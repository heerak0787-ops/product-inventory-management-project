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4" r:id="rId1"/>
  </p:sldMasterIdLst>
  <p:notesMasterIdLst>
    <p:notesMasterId r:id="rId21"/>
  </p:notesMasterIdLst>
  <p:sldIdLst>
    <p:sldId id="276" r:id="rId2"/>
    <p:sldId id="277" r:id="rId3"/>
    <p:sldId id="278" r:id="rId4"/>
    <p:sldId id="279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</p:sldIdLst>
  <p:sldSz cx="7772400" cy="10058400"/>
  <p:notesSz cx="7772400" cy="10058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-2328" y="-102"/>
      </p:cViewPr>
      <p:guideLst>
        <p:guide orient="horz" pos="2879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6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66925" y="766763"/>
            <a:ext cx="296545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3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4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5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46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647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2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83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4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585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49" name="Holder 3"/>
          <p:cNvSpPr>
            <a:spLocks noGrp="1"/>
          </p:cNvSpPr>
          <p:nvPr>
            <p:ph sz="half" idx="2"/>
          </p:nvPr>
        </p:nvSpPr>
        <p:spPr>
          <a:xfrm>
            <a:off x="388620" y="2313432"/>
            <a:ext cx="338099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50" name="Holder 4"/>
          <p:cNvSpPr>
            <a:spLocks noGrp="1"/>
          </p:cNvSpPr>
          <p:nvPr>
            <p:ph sz="half" idx="3"/>
          </p:nvPr>
        </p:nvSpPr>
        <p:spPr>
          <a:xfrm>
            <a:off x="4002786" y="2313432"/>
            <a:ext cx="338099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endParaRPr/>
          </a:p>
        </p:txBody>
      </p:sp>
      <p:sp>
        <p:nvSpPr>
          <p:cNvPr id="1048651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52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653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655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656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657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89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590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Holder 2"/>
          <p:cNvSpPr>
            <a:spLocks noGrp="1"/>
          </p:cNvSpPr>
          <p:nvPr>
            <p:ph type="title"/>
          </p:nvPr>
        </p:nvSpPr>
        <p:spPr>
          <a:xfrm>
            <a:off x="1010752" y="882799"/>
            <a:ext cx="575089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77" name="Holder 3"/>
          <p:cNvSpPr>
            <a:spLocks noGrp="1"/>
          </p:cNvSpPr>
          <p:nvPr>
            <p:ph type="body" idx="1"/>
          </p:nvPr>
        </p:nvSpPr>
        <p:spPr>
          <a:xfrm>
            <a:off x="901701" y="1598539"/>
            <a:ext cx="5969634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1048578" name="Holder 4"/>
          <p:cNvSpPr>
            <a:spLocks noGrp="1"/>
          </p:cNvSpPr>
          <p:nvPr>
            <p:ph type="ftr" sz="quarter" idx="5"/>
          </p:nvPr>
        </p:nvSpPr>
        <p:spPr>
          <a:xfrm>
            <a:off x="2642616" y="9354313"/>
            <a:ext cx="2487168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1048579" name="Holder 5"/>
          <p:cNvSpPr>
            <a:spLocks noGrp="1"/>
          </p:cNvSpPr>
          <p:nvPr>
            <p:ph type="dt" sz="half" idx="6"/>
          </p:nvPr>
        </p:nvSpPr>
        <p:spPr>
          <a:xfrm>
            <a:off x="388620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3/3/2026</a:t>
            </a:fld>
            <a:endParaRPr lang="en-US"/>
          </a:p>
        </p:txBody>
      </p:sp>
      <p:sp>
        <p:nvSpPr>
          <p:cNvPr id="1048580" name="Holder 6"/>
          <p:cNvSpPr>
            <a:spLocks noGrp="1"/>
          </p:cNvSpPr>
          <p:nvPr>
            <p:ph type="sldNum" sz="quarter" idx="7"/>
          </p:nvPr>
        </p:nvSpPr>
        <p:spPr>
          <a:xfrm>
            <a:off x="5596128" y="9354313"/>
            <a:ext cx="178765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://db.js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drive.google.com/file/d/1ZNhE7bbQMA2hqUXuGKhRNeo5EFayPjd9/view?usp=sharing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object 2"/>
          <p:cNvSpPr txBox="1">
            <a:spLocks noGrp="1"/>
          </p:cNvSpPr>
          <p:nvPr>
            <p:ph type="title"/>
          </p:nvPr>
        </p:nvSpPr>
        <p:spPr>
          <a:xfrm>
            <a:off x="1010752" y="882799"/>
            <a:ext cx="5750897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Product</a:t>
            </a:r>
            <a:r>
              <a:rPr spc="-50" dirty="0"/>
              <a:t> </a:t>
            </a:r>
            <a:r>
              <a:rPr dirty="0"/>
              <a:t>Inventory</a:t>
            </a:r>
            <a:r>
              <a:rPr spc="-50" dirty="0"/>
              <a:t> </a:t>
            </a:r>
            <a:r>
              <a:rPr dirty="0"/>
              <a:t>Management</a:t>
            </a:r>
            <a:r>
              <a:rPr spc="-50" dirty="0"/>
              <a:t> </a:t>
            </a:r>
            <a:r>
              <a:rPr spc="-10" dirty="0"/>
              <a:t>System</a:t>
            </a:r>
          </a:p>
        </p:txBody>
      </p:sp>
      <p:sp>
        <p:nvSpPr>
          <p:cNvPr id="1048587" name="object 3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5969634" cy="779957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00"/>
              </a:spcBef>
            </a:pPr>
            <a:r>
              <a:rPr sz="1200" dirty="0"/>
              <a:t>PROJECT</a:t>
            </a:r>
            <a:r>
              <a:rPr sz="1200" spc="-75" dirty="0"/>
              <a:t> </a:t>
            </a:r>
            <a:r>
              <a:rPr sz="1200" spc="-10" dirty="0"/>
              <a:t>OVERVIEW</a:t>
            </a:r>
          </a:p>
          <a:p>
            <a:pPr marL="12700" marR="5080" algn="just">
              <a:lnSpc>
                <a:spcPct val="110200"/>
              </a:lnSpc>
              <a:spcBef>
                <a:spcPts val="1255"/>
              </a:spcBef>
            </a:pPr>
            <a:r>
              <a:rPr sz="1200" b="0" dirty="0">
                <a:latin typeface="Arial MT"/>
                <a:cs typeface="Arial MT"/>
              </a:rPr>
              <a:t>The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dirty="0"/>
              <a:t>Product</a:t>
            </a:r>
            <a:r>
              <a:rPr sz="1200" spc="-25" dirty="0"/>
              <a:t> </a:t>
            </a:r>
            <a:r>
              <a:rPr sz="1200" spc="-10" dirty="0"/>
              <a:t>Inventory</a:t>
            </a:r>
            <a:r>
              <a:rPr sz="1200" spc="-25" dirty="0"/>
              <a:t> </a:t>
            </a:r>
            <a:r>
              <a:rPr sz="1200" spc="-10" dirty="0"/>
              <a:t>Management</a:t>
            </a:r>
            <a:r>
              <a:rPr sz="1200" spc="-25" dirty="0"/>
              <a:t> </a:t>
            </a:r>
            <a:r>
              <a:rPr sz="1200" dirty="0"/>
              <a:t>System</a:t>
            </a:r>
            <a:r>
              <a:rPr sz="1200" spc="-20" dirty="0"/>
              <a:t> </a:t>
            </a:r>
            <a:r>
              <a:rPr sz="1200" b="0" dirty="0">
                <a:latin typeface="Arial MT"/>
                <a:cs typeface="Arial MT"/>
              </a:rPr>
              <a:t>is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backend-</a:t>
            </a:r>
            <a:r>
              <a:rPr sz="1200" b="0" dirty="0">
                <a:latin typeface="Arial MT"/>
                <a:cs typeface="Arial MT"/>
              </a:rPr>
              <a:t>focused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web</a:t>
            </a:r>
            <a:r>
              <a:rPr sz="1200" b="0" spc="-2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application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developed </a:t>
            </a:r>
            <a:r>
              <a:rPr sz="1200" b="0" dirty="0">
                <a:latin typeface="Arial MT"/>
                <a:cs typeface="Arial MT"/>
              </a:rPr>
              <a:t>using</a:t>
            </a:r>
            <a:r>
              <a:rPr sz="1200" b="0" spc="20" dirty="0">
                <a:latin typeface="Arial MT"/>
                <a:cs typeface="Arial MT"/>
              </a:rPr>
              <a:t> </a:t>
            </a:r>
            <a:r>
              <a:rPr sz="1200" dirty="0"/>
              <a:t>Node.js</a:t>
            </a:r>
            <a:r>
              <a:rPr sz="1200" b="0" dirty="0">
                <a:latin typeface="Arial MT"/>
                <a:cs typeface="Arial MT"/>
              </a:rPr>
              <a:t>,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dirty="0"/>
              <a:t>Express.js</a:t>
            </a:r>
            <a:r>
              <a:rPr sz="1200" b="0" dirty="0">
                <a:latin typeface="Arial MT"/>
                <a:cs typeface="Arial MT"/>
              </a:rPr>
              <a:t>,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20" dirty="0">
                <a:latin typeface="Arial MT"/>
                <a:cs typeface="Arial MT"/>
              </a:rPr>
              <a:t> </a:t>
            </a:r>
            <a:r>
              <a:rPr sz="1200" dirty="0"/>
              <a:t>MongoDB</a:t>
            </a:r>
            <a:r>
              <a:rPr sz="1200" b="0" dirty="0">
                <a:latin typeface="Arial MT"/>
                <a:cs typeface="Arial MT"/>
              </a:rPr>
              <a:t>,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designed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to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provide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secure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scalable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solution </a:t>
            </a:r>
            <a:r>
              <a:rPr sz="1200" b="0" dirty="0">
                <a:latin typeface="Arial MT"/>
                <a:cs typeface="Arial MT"/>
              </a:rPr>
              <a:t>for</a:t>
            </a:r>
            <a:r>
              <a:rPr sz="1200" b="0" spc="39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managing</a:t>
            </a:r>
            <a:r>
              <a:rPr sz="1200" b="0" spc="39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40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data</a:t>
            </a:r>
            <a:r>
              <a:rPr sz="1200" b="0" spc="39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through</a:t>
            </a:r>
            <a:r>
              <a:rPr sz="1200" b="0" spc="40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RESTful</a:t>
            </a:r>
            <a:r>
              <a:rPr sz="1200" b="0" spc="3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APIs.</a:t>
            </a:r>
            <a:r>
              <a:rPr sz="1200" b="0" spc="3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The</a:t>
            </a:r>
            <a:r>
              <a:rPr sz="1200" b="0" spc="3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system</a:t>
            </a:r>
            <a:r>
              <a:rPr sz="1200" b="0" spc="3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enables</a:t>
            </a:r>
            <a:r>
              <a:rPr sz="1200" b="0" spc="3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users</a:t>
            </a:r>
            <a:r>
              <a:rPr sz="1200" b="0" spc="3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to</a:t>
            </a:r>
            <a:r>
              <a:rPr sz="1200" b="0" spc="32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create </a:t>
            </a:r>
            <a:r>
              <a:rPr sz="1200" b="0" dirty="0">
                <a:latin typeface="Arial MT"/>
                <a:cs typeface="Arial MT"/>
              </a:rPr>
              <a:t>accounts,</a:t>
            </a:r>
            <a:r>
              <a:rPr sz="1200" b="0" spc="31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log</a:t>
            </a:r>
            <a:r>
              <a:rPr sz="1200" b="0" spc="31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in</a:t>
            </a:r>
            <a:r>
              <a:rPr sz="1200" b="0" spc="31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securely,</a:t>
            </a:r>
            <a:r>
              <a:rPr sz="1200" b="0" spc="2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2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access</a:t>
            </a:r>
            <a:r>
              <a:rPr sz="1200" b="0" spc="2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protected</a:t>
            </a:r>
            <a:r>
              <a:rPr sz="1200" b="0" spc="2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routes</a:t>
            </a:r>
            <a:r>
              <a:rPr sz="1200" b="0" spc="2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using</a:t>
            </a:r>
            <a:r>
              <a:rPr sz="1200" b="0" spc="240" dirty="0">
                <a:latin typeface="Arial MT"/>
                <a:cs typeface="Arial MT"/>
              </a:rPr>
              <a:t> </a:t>
            </a:r>
            <a:r>
              <a:rPr sz="1200" spc="-30" dirty="0"/>
              <a:t>JWT-</a:t>
            </a:r>
            <a:r>
              <a:rPr sz="1200" dirty="0"/>
              <a:t>based</a:t>
            </a:r>
            <a:r>
              <a:rPr sz="1200" spc="245" dirty="0"/>
              <a:t> </a:t>
            </a:r>
            <a:r>
              <a:rPr sz="1200" spc="-10" dirty="0"/>
              <a:t>authentication</a:t>
            </a:r>
            <a:r>
              <a:rPr sz="1200" b="0" spc="-10" dirty="0">
                <a:latin typeface="Arial MT"/>
                <a:cs typeface="Arial MT"/>
              </a:rPr>
              <a:t>, </a:t>
            </a:r>
            <a:r>
              <a:rPr sz="1200" b="0" dirty="0">
                <a:latin typeface="Arial MT"/>
                <a:cs typeface="Arial MT"/>
              </a:rPr>
              <a:t>ensuring</a:t>
            </a:r>
            <a:r>
              <a:rPr sz="1200" b="0" spc="31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that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only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authorized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users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can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perform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operations.</a:t>
            </a:r>
            <a:r>
              <a:rPr sz="1200" b="0" spc="31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It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supports</a:t>
            </a:r>
            <a:r>
              <a:rPr sz="1200" b="0" spc="32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complete</a:t>
            </a:r>
            <a:r>
              <a:rPr sz="1200" b="0" spc="250" dirty="0">
                <a:latin typeface="Arial MT"/>
                <a:cs typeface="Arial MT"/>
              </a:rPr>
              <a:t> </a:t>
            </a:r>
            <a:r>
              <a:rPr sz="1200" spc="-20" dirty="0"/>
              <a:t>CRUD </a:t>
            </a:r>
            <a:r>
              <a:rPr sz="1200" dirty="0"/>
              <a:t>functionality</a:t>
            </a:r>
            <a:r>
              <a:rPr sz="1200" b="0" dirty="0">
                <a:latin typeface="Arial MT"/>
                <a:cs typeface="Arial MT"/>
              </a:rPr>
              <a:t>,</a:t>
            </a:r>
            <a:r>
              <a:rPr sz="1200" b="0" spc="9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allowing</a:t>
            </a:r>
            <a:r>
              <a:rPr sz="1200" b="0" spc="9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users</a:t>
            </a:r>
            <a:r>
              <a:rPr sz="1200" b="0" spc="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to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add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new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products,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view</a:t>
            </a:r>
            <a:r>
              <a:rPr sz="1200" b="0" spc="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their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inventory,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update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2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details </a:t>
            </a:r>
            <a:r>
              <a:rPr sz="1200" b="0" dirty="0">
                <a:latin typeface="Arial MT"/>
                <a:cs typeface="Arial MT"/>
              </a:rPr>
              <a:t>such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as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price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quantity,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delete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items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when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needed.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dirty="0"/>
              <a:t>Key</a:t>
            </a:r>
            <a:r>
              <a:rPr sz="1200" spc="-40" dirty="0"/>
              <a:t> </a:t>
            </a:r>
            <a:r>
              <a:rPr sz="1200" spc="-10" dirty="0"/>
              <a:t>Objectives:</a:t>
            </a:r>
            <a:endParaRPr sz="1200" dirty="0"/>
          </a:p>
          <a:p>
            <a:pPr marL="593725" marR="8255" indent="-123825">
              <a:lnSpc>
                <a:spcPct val="110200"/>
              </a:lnSpc>
              <a:spcBef>
                <a:spcPts val="400"/>
              </a:spcBef>
              <a:buChar char="•"/>
              <a:tabLst>
                <a:tab pos="698500" algn="l"/>
              </a:tabLst>
            </a:pPr>
            <a:r>
              <a:rPr sz="1200" b="0" dirty="0">
                <a:latin typeface="Arial MT"/>
                <a:cs typeface="Arial MT"/>
              </a:rPr>
              <a:t>Provide</a:t>
            </a:r>
            <a:r>
              <a:rPr sz="1200" b="0" spc="229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secure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spc="-30" dirty="0">
                <a:latin typeface="Arial MT"/>
                <a:cs typeface="Arial MT"/>
              </a:rPr>
              <a:t>JWT-</a:t>
            </a:r>
            <a:r>
              <a:rPr sz="1200" b="0" dirty="0">
                <a:latin typeface="Arial MT"/>
                <a:cs typeface="Arial MT"/>
              </a:rPr>
              <a:t>based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user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authentication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authorization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for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protected</a:t>
            </a:r>
            <a:r>
              <a:rPr sz="1200" b="0" spc="165" dirty="0">
                <a:latin typeface="Arial MT"/>
                <a:cs typeface="Arial MT"/>
              </a:rPr>
              <a:t> </a:t>
            </a:r>
            <a:r>
              <a:rPr sz="1200" b="0" spc="-25" dirty="0">
                <a:latin typeface="Arial MT"/>
                <a:cs typeface="Arial MT"/>
              </a:rPr>
              <a:t>API 	</a:t>
            </a:r>
            <a:r>
              <a:rPr sz="1200" b="0" spc="-10" dirty="0">
                <a:latin typeface="Arial MT"/>
                <a:cs typeface="Arial MT"/>
              </a:rPr>
              <a:t>access.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Enable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efficient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inventory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management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through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RESTful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CRUD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operations.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Ensure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user-</a:t>
            </a:r>
            <a:r>
              <a:rPr sz="1200" b="0" dirty="0">
                <a:latin typeface="Arial MT"/>
                <a:cs typeface="Arial MT"/>
              </a:rPr>
              <a:t>specific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data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isolation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so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each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user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can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manage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only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their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own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products.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0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Implement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scalable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backend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architecture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using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Node.js,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Express.js,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MongoDB.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Deliver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fast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reliable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API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responses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with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proper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validation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error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handling.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70"/>
              </a:spcBef>
              <a:buFont typeface="Arial MT"/>
              <a:buChar char="•"/>
            </a:pP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spc="-20" dirty="0"/>
              <a:t>Target</a:t>
            </a:r>
            <a:r>
              <a:rPr sz="1200" spc="-15" dirty="0"/>
              <a:t> </a:t>
            </a:r>
            <a:r>
              <a:rPr sz="1200" spc="-10" dirty="0"/>
              <a:t>Users:</a:t>
            </a:r>
            <a:endParaRPr sz="1200" dirty="0"/>
          </a:p>
          <a:p>
            <a:pPr marL="556260" indent="-86360">
              <a:lnSpc>
                <a:spcPct val="100000"/>
              </a:lnSpc>
              <a:spcBef>
                <a:spcPts val="5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Small</a:t>
            </a:r>
            <a:r>
              <a:rPr sz="1200" b="0" spc="-5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business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owners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managing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stock</a:t>
            </a:r>
            <a:r>
              <a:rPr sz="1200" b="0" spc="-5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inventory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records.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spc="-10" dirty="0">
                <a:latin typeface="Arial MT"/>
                <a:cs typeface="Arial MT"/>
              </a:rPr>
              <a:t>Freelancers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or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sellers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tracking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items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or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services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structured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spc="-20" dirty="0">
                <a:latin typeface="Arial MT"/>
                <a:cs typeface="Arial MT"/>
              </a:rPr>
              <a:t>way.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spc="-10" dirty="0">
                <a:latin typeface="Arial MT"/>
                <a:cs typeface="Arial MT"/>
              </a:rPr>
              <a:t>Developers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learning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backend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API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development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authentication</a:t>
            </a:r>
            <a:r>
              <a:rPr sz="1200" b="0" spc="-1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workflows.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Students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working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on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backend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or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full-</a:t>
            </a:r>
            <a:r>
              <a:rPr sz="1200" b="0" dirty="0">
                <a:latin typeface="Arial MT"/>
                <a:cs typeface="Arial MT"/>
              </a:rPr>
              <a:t>stack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development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projects.</a:t>
            </a:r>
            <a:endParaRPr sz="1200" dirty="0">
              <a:latin typeface="Arial MT"/>
              <a:cs typeface="Arial MT"/>
            </a:endParaRPr>
          </a:p>
          <a:p>
            <a:pPr marL="556260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56260" algn="l"/>
              </a:tabLst>
            </a:pPr>
            <a:r>
              <a:rPr sz="1200" b="0" dirty="0">
                <a:latin typeface="Arial MT"/>
                <a:cs typeface="Arial MT"/>
              </a:rPr>
              <a:t>Anyone</a:t>
            </a:r>
            <a:r>
              <a:rPr sz="1200" b="0" spc="-4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needing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secure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and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simple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backend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system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for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managing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-3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data.</a:t>
            </a: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2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90"/>
              </a:spcBef>
              <a:buFont typeface="Arial MT"/>
              <a:buChar char="•"/>
            </a:pPr>
            <a:endParaRPr sz="1200" dirty="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dirty="0"/>
              <a:t>PROJECT</a:t>
            </a:r>
            <a:r>
              <a:rPr sz="1200" spc="-75" dirty="0"/>
              <a:t> </a:t>
            </a:r>
            <a:r>
              <a:rPr sz="1200" spc="-10" dirty="0"/>
              <a:t>INSTRUCTION</a:t>
            </a:r>
          </a:p>
          <a:p>
            <a:pPr marL="594995" indent="-86360">
              <a:lnSpc>
                <a:spcPct val="100000"/>
              </a:lnSpc>
              <a:spcBef>
                <a:spcPts val="190"/>
              </a:spcBef>
              <a:buChar char="•"/>
              <a:tabLst>
                <a:tab pos="594995" algn="l"/>
              </a:tabLst>
            </a:pPr>
            <a:r>
              <a:rPr sz="1200" b="0" dirty="0">
                <a:latin typeface="Arial MT"/>
                <a:cs typeface="Arial MT"/>
              </a:rPr>
              <a:t>Create</a:t>
            </a:r>
            <a:r>
              <a:rPr sz="1200" b="0" spc="-6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backend</a:t>
            </a:r>
            <a:r>
              <a:rPr sz="1200" b="0" spc="-5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project</a:t>
            </a:r>
            <a:r>
              <a:rPr sz="1200" b="0" spc="-5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folder</a:t>
            </a:r>
            <a:endParaRPr sz="1200" dirty="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200" b="0" spc="-10" dirty="0">
                <a:latin typeface="Arial MT"/>
                <a:cs typeface="Arial MT"/>
              </a:rPr>
              <a:t>Configure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server</a:t>
            </a:r>
            <a:r>
              <a:rPr sz="1200" b="0" spc="-2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using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Express.js</a:t>
            </a:r>
            <a:endParaRPr sz="1200" dirty="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200" b="0" dirty="0">
                <a:latin typeface="Arial MT"/>
                <a:cs typeface="Arial MT"/>
              </a:rPr>
              <a:t>Setup</a:t>
            </a:r>
            <a:r>
              <a:rPr sz="1200" b="0" spc="-7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MongoDB</a:t>
            </a:r>
            <a:r>
              <a:rPr sz="1200" b="0" spc="-6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database</a:t>
            </a:r>
            <a:r>
              <a:rPr sz="1200" b="0" spc="-65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connection</a:t>
            </a:r>
            <a:endParaRPr sz="1200" dirty="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200" b="0" dirty="0">
                <a:latin typeface="Arial MT"/>
                <a:cs typeface="Arial MT"/>
              </a:rPr>
              <a:t>Implement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spc="-10" dirty="0">
                <a:latin typeface="Arial MT"/>
                <a:cs typeface="Arial MT"/>
              </a:rPr>
              <a:t>authentication</a:t>
            </a:r>
            <a:r>
              <a:rPr sz="1200" b="0" spc="-30" dirty="0">
                <a:latin typeface="Arial MT"/>
                <a:cs typeface="Arial MT"/>
              </a:rPr>
              <a:t> </a:t>
            </a:r>
            <a:r>
              <a:rPr sz="1200" b="0" spc="-20" dirty="0">
                <a:latin typeface="Arial MT"/>
                <a:cs typeface="Arial MT"/>
              </a:rPr>
              <a:t>APIs</a:t>
            </a:r>
            <a:endParaRPr sz="1200" dirty="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200" b="0" dirty="0">
                <a:latin typeface="Arial MT"/>
                <a:cs typeface="Arial MT"/>
              </a:rPr>
              <a:t>Implement</a:t>
            </a:r>
            <a:r>
              <a:rPr sz="1200" b="0" spc="-6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product</a:t>
            </a:r>
            <a:r>
              <a:rPr sz="1200" b="0" spc="-60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CRUD</a:t>
            </a:r>
            <a:r>
              <a:rPr sz="1200" b="0" spc="-60" dirty="0">
                <a:latin typeface="Arial MT"/>
                <a:cs typeface="Arial MT"/>
              </a:rPr>
              <a:t> </a:t>
            </a:r>
            <a:r>
              <a:rPr sz="1200" b="0" spc="-20" dirty="0">
                <a:latin typeface="Arial MT"/>
                <a:cs typeface="Arial MT"/>
              </a:rPr>
              <a:t>APIs</a:t>
            </a:r>
            <a:endParaRPr sz="1200" dirty="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200" b="0" spc="-25" dirty="0">
                <a:latin typeface="Arial MT"/>
                <a:cs typeface="Arial MT"/>
              </a:rPr>
              <a:t>Test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APIs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using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Thunder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Client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in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dirty="0">
                <a:latin typeface="Arial MT"/>
                <a:cs typeface="Arial MT"/>
              </a:rPr>
              <a:t>VS</a:t>
            </a:r>
            <a:r>
              <a:rPr sz="1200" b="0" spc="-45" dirty="0">
                <a:latin typeface="Arial MT"/>
                <a:cs typeface="Arial MT"/>
              </a:rPr>
              <a:t> </a:t>
            </a:r>
            <a:r>
              <a:rPr sz="1200" b="0" spc="-20" dirty="0">
                <a:latin typeface="Arial MT"/>
                <a:cs typeface="Arial MT"/>
              </a:rPr>
              <a:t>Code</a:t>
            </a:r>
            <a:endParaRPr sz="1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bject 2"/>
          <p:cNvSpPr txBox="1"/>
          <p:nvPr/>
        </p:nvSpPr>
        <p:spPr>
          <a:xfrm>
            <a:off x="901700" y="890674"/>
            <a:ext cx="152654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20" dirty="0">
                <a:latin typeface="Arial"/>
                <a:cs typeface="Arial"/>
              </a:rPr>
              <a:t>PRE-</a:t>
            </a:r>
            <a:r>
              <a:rPr sz="1400" b="1" spc="-10" dirty="0">
                <a:latin typeface="Arial"/>
                <a:cs typeface="Arial"/>
              </a:rPr>
              <a:t>REQUISITES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4194304" name="object 3"/>
          <p:cNvGraphicFramePr>
            <a:graphicFrameLocks noGrp="1"/>
          </p:cNvGraphicFramePr>
          <p:nvPr/>
        </p:nvGraphicFramePr>
        <p:xfrm>
          <a:off x="914400" y="1219200"/>
          <a:ext cx="2832100" cy="25882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87400"/>
                <a:gridCol w="2044700"/>
              </a:tblGrid>
              <a:tr h="481966">
                <a:tc>
                  <a:txBody>
                    <a:bodyPr/>
                    <a:lstStyle/>
                    <a:p>
                      <a:pPr marL="939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Software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Purpose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673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659764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09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Node.js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47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 marR="615315">
                        <a:lnSpc>
                          <a:spcPct val="110200"/>
                        </a:lnSpc>
                        <a:spcBef>
                          <a:spcPts val="37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JavaScript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runtime</a:t>
                      </a:r>
                      <a:r>
                        <a:rPr sz="1200" spc="-1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for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backend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4762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1966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MongoDB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4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Database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storage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92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2600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spc="-25" dirty="0">
                          <a:latin typeface="Arial MT"/>
                          <a:cs typeface="Arial MT"/>
                        </a:rPr>
                        <a:t>npm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66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2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Package</a:t>
                      </a:r>
                      <a:r>
                        <a:rPr sz="1200" spc="-7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manager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667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81966">
                <a:tc>
                  <a:txBody>
                    <a:bodyPr/>
                    <a:lstStyle/>
                    <a:p>
                      <a:pPr marL="5969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VS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Code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86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Development</a:t>
                      </a:r>
                      <a:r>
                        <a:rPr sz="1200" spc="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environment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41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48592" name="object 4"/>
          <p:cNvSpPr txBox="1"/>
          <p:nvPr/>
        </p:nvSpPr>
        <p:spPr>
          <a:xfrm>
            <a:off x="901701" y="4102756"/>
            <a:ext cx="3550285" cy="157992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1400" b="1" dirty="0">
                <a:latin typeface="Arial"/>
                <a:cs typeface="Arial"/>
              </a:rPr>
              <a:t>Knowledge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Requirements</a:t>
            </a:r>
            <a:endParaRPr sz="1400">
              <a:latin typeface="Arial"/>
              <a:cs typeface="Arial"/>
            </a:endParaRPr>
          </a:p>
          <a:p>
            <a:pPr marL="594995" indent="-86360">
              <a:lnSpc>
                <a:spcPct val="100000"/>
              </a:lnSpc>
              <a:spcBef>
                <a:spcPts val="190"/>
              </a:spcBef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JavaScript </a:t>
            </a:r>
            <a:r>
              <a:rPr sz="1100" dirty="0">
                <a:latin typeface="Arial MT"/>
                <a:cs typeface="Arial MT"/>
              </a:rPr>
              <a:t>ES6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concepts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Node.js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Express.js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REST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development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MongoDB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Mongoose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ODM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ct val="100000"/>
              </a:lnSpc>
              <a:spcBef>
                <a:spcPts val="135"/>
              </a:spcBef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Middleware</a:t>
            </a:r>
            <a:r>
              <a:rPr sz="1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architecture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400" b="1" dirty="0">
                <a:latin typeface="Arial"/>
                <a:cs typeface="Arial"/>
              </a:rPr>
              <a:t>Project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Thumbnail: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97152" name="object 5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5874962"/>
            <a:ext cx="4324350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object 2"/>
          <p:cNvSpPr txBox="1"/>
          <p:nvPr/>
        </p:nvSpPr>
        <p:spPr>
          <a:xfrm>
            <a:off x="901700" y="890676"/>
            <a:ext cx="4642485" cy="5001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PROJECT</a:t>
            </a:r>
            <a:r>
              <a:rPr sz="1400" b="1" spc="-7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100" spc="-10" dirty="0">
                <a:latin typeface="Arial MT"/>
                <a:cs typeface="Arial MT"/>
              </a:rPr>
              <a:t>High-</a:t>
            </a:r>
            <a:r>
              <a:rPr sz="1100" dirty="0">
                <a:latin typeface="Arial MT"/>
                <a:cs typeface="Arial MT"/>
              </a:rPr>
              <a:t>level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architecture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diagram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illustrating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three-</a:t>
            </a:r>
            <a:r>
              <a:rPr sz="1100" dirty="0">
                <a:latin typeface="Arial MT"/>
                <a:cs typeface="Arial MT"/>
              </a:rPr>
              <a:t>tier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backend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structure.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594" name="object 3"/>
          <p:cNvSpPr txBox="1"/>
          <p:nvPr/>
        </p:nvSpPr>
        <p:spPr>
          <a:xfrm>
            <a:off x="901700" y="4622924"/>
            <a:ext cx="4582160" cy="3972241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100" b="1" dirty="0">
                <a:latin typeface="Arial"/>
                <a:cs typeface="Arial"/>
              </a:rPr>
              <a:t>Node.js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+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Express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Backend</a:t>
            </a:r>
            <a:endParaRPr sz="1100">
              <a:latin typeface="Arial"/>
              <a:cs typeface="Arial"/>
            </a:endParaRPr>
          </a:p>
          <a:p>
            <a:pPr marL="99060" indent="-86360">
              <a:lnSpc>
                <a:spcPct val="100000"/>
              </a:lnSpc>
              <a:spcBef>
                <a:spcPts val="535"/>
              </a:spcBef>
              <a:buChar char="•"/>
              <a:tabLst>
                <a:tab pos="99060" algn="l"/>
              </a:tabLst>
            </a:pPr>
            <a:r>
              <a:rPr sz="1100" spc="-10" dirty="0">
                <a:latin typeface="Arial MT"/>
                <a:cs typeface="Arial MT"/>
              </a:rPr>
              <a:t>RESTful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architecture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spcBef>
                <a:spcPts val="145"/>
              </a:spcBef>
              <a:buChar char="•"/>
              <a:tabLst>
                <a:tab pos="99060" algn="l"/>
              </a:tabLst>
            </a:pP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middleware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spcBef>
                <a:spcPts val="145"/>
              </a:spcBef>
              <a:buChar char="•"/>
              <a:tabLst>
                <a:tab pos="99060" algn="l"/>
              </a:tabLst>
            </a:pPr>
            <a:r>
              <a:rPr sz="1100" dirty="0">
                <a:latin typeface="Arial MT"/>
                <a:cs typeface="Arial MT"/>
              </a:rPr>
              <a:t>MVC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pattern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(Models,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Controllers,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Routes)</a:t>
            </a:r>
            <a:endParaRPr sz="1100">
              <a:latin typeface="Arial MT"/>
              <a:cs typeface="Arial MT"/>
            </a:endParaRPr>
          </a:p>
          <a:p>
            <a:pPr marL="108585" indent="-95885">
              <a:lnSpc>
                <a:spcPct val="100000"/>
              </a:lnSpc>
              <a:spcBef>
                <a:spcPts val="135"/>
              </a:spcBef>
              <a:buChar char="•"/>
              <a:tabLst>
                <a:tab pos="108585" algn="l"/>
              </a:tabLst>
            </a:pPr>
            <a:r>
              <a:rPr sz="1200" dirty="0">
                <a:latin typeface="Arial MT"/>
                <a:cs typeface="Arial MT"/>
              </a:rPr>
              <a:t>Input validation and error </a:t>
            </a:r>
            <a:r>
              <a:rPr sz="1200" spc="-10" dirty="0">
                <a:latin typeface="Arial MT"/>
                <a:cs typeface="Arial MT"/>
              </a:rPr>
              <a:t>handling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10" dirty="0">
                <a:latin typeface="Arial"/>
                <a:cs typeface="Arial"/>
              </a:rPr>
              <a:t>MongoDB Database</a:t>
            </a:r>
            <a:endParaRPr sz="1100">
              <a:latin typeface="Arial"/>
              <a:cs typeface="Arial"/>
            </a:endParaRPr>
          </a:p>
          <a:p>
            <a:pPr marL="104775" indent="-92075">
              <a:lnSpc>
                <a:spcPct val="100000"/>
              </a:lnSpc>
              <a:spcBef>
                <a:spcPts val="440"/>
              </a:spcBef>
              <a:buSzPct val="109090"/>
              <a:buChar char="•"/>
              <a:tabLst>
                <a:tab pos="104775" algn="l"/>
              </a:tabLst>
            </a:pPr>
            <a:r>
              <a:rPr sz="1100" spc="-10" dirty="0">
                <a:latin typeface="Arial MT"/>
                <a:cs typeface="Arial MT"/>
              </a:rPr>
              <a:t>Document-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NoSQL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storage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spcBef>
                <a:spcPts val="165"/>
              </a:spcBef>
              <a:buChar char="•"/>
              <a:tabLst>
                <a:tab pos="99060" algn="l"/>
              </a:tabLst>
            </a:pPr>
            <a:r>
              <a:rPr sz="1100" spc="-10" dirty="0">
                <a:latin typeface="Arial MT"/>
                <a:cs typeface="Arial MT"/>
              </a:rPr>
              <a:t>Mongoose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ODM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schema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modeling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spcBef>
                <a:spcPts val="145"/>
              </a:spcBef>
              <a:buChar char="•"/>
              <a:tabLst>
                <a:tab pos="99060" algn="l"/>
              </a:tabLst>
            </a:pPr>
            <a:r>
              <a:rPr sz="1100" spc="-20" dirty="0">
                <a:latin typeface="Arial MT"/>
                <a:cs typeface="Arial MT"/>
              </a:rPr>
              <a:t>Two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collections: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Contacts</a:t>
            </a:r>
            <a:endParaRPr sz="1100">
              <a:latin typeface="Arial MT"/>
              <a:cs typeface="Arial MT"/>
            </a:endParaRPr>
          </a:p>
          <a:p>
            <a:pPr marL="99060" indent="-86360">
              <a:lnSpc>
                <a:spcPct val="100000"/>
              </a:lnSpc>
              <a:spcBef>
                <a:spcPts val="145"/>
              </a:spcBef>
              <a:buChar char="•"/>
              <a:tabLst>
                <a:tab pos="99060" algn="l"/>
              </a:tabLst>
            </a:pPr>
            <a:r>
              <a:rPr sz="1100" dirty="0">
                <a:latin typeface="Arial MT"/>
                <a:cs typeface="Arial MT"/>
              </a:rPr>
              <a:t>Indexed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fields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optimized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queries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Arial MT"/>
              <a:buChar char="•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400" b="1" spc="-10" dirty="0">
                <a:latin typeface="Arial"/>
                <a:cs typeface="Arial"/>
              </a:rPr>
              <a:t>TECHNICAL</a:t>
            </a:r>
            <a:r>
              <a:rPr sz="1400" b="1" spc="-1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ARCHITECTURE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Backend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Architecture</a:t>
            </a:r>
            <a:r>
              <a:rPr sz="1200" b="1" spc="-1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(Node.js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+</a:t>
            </a:r>
            <a:r>
              <a:rPr sz="1200" b="1" spc="-10" dirty="0">
                <a:latin typeface="Arial"/>
                <a:cs typeface="Arial"/>
              </a:rPr>
              <a:t> Express)</a:t>
            </a:r>
            <a:endParaRPr sz="1200">
              <a:latin typeface="Arial"/>
              <a:cs typeface="Arial"/>
            </a:endParaRPr>
          </a:p>
          <a:p>
            <a:pPr marL="594995" lvl="1" indent="-86360">
              <a:lnSpc>
                <a:spcPts val="1290"/>
              </a:lnSpc>
              <a:spcBef>
                <a:spcPts val="1145"/>
              </a:spcBef>
              <a:buFont typeface="Arial MT"/>
              <a:buChar char="•"/>
              <a:tabLst>
                <a:tab pos="594995" algn="l"/>
              </a:tabLst>
            </a:pPr>
            <a:r>
              <a:rPr sz="1100" b="1" spc="-10" dirty="0">
                <a:latin typeface="Arial"/>
                <a:cs typeface="Arial"/>
              </a:rPr>
              <a:t>Controllers</a:t>
            </a:r>
            <a:r>
              <a:rPr sz="1100" spc="-10" dirty="0">
                <a:latin typeface="Arial MT"/>
                <a:cs typeface="Arial MT"/>
              </a:rPr>
              <a:t>: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logic</a:t>
            </a:r>
            <a:endParaRPr sz="1100">
              <a:latin typeface="Arial MT"/>
              <a:cs typeface="Arial MT"/>
            </a:endParaRPr>
          </a:p>
          <a:p>
            <a:pPr marL="594995" lvl="1" indent="-86360">
              <a:lnSpc>
                <a:spcPts val="1265"/>
              </a:lnSpc>
              <a:buFont typeface="Arial MT"/>
              <a:buChar char="•"/>
              <a:tabLst>
                <a:tab pos="594995" algn="l"/>
              </a:tabLst>
            </a:pPr>
            <a:r>
              <a:rPr sz="1100" b="1" dirty="0">
                <a:latin typeface="Arial"/>
                <a:cs typeface="Arial"/>
              </a:rPr>
              <a:t>Models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Define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schema</a:t>
            </a:r>
            <a:endParaRPr sz="1100">
              <a:latin typeface="Arial MT"/>
              <a:cs typeface="Arial MT"/>
            </a:endParaRPr>
          </a:p>
          <a:p>
            <a:pPr marL="594995" lvl="1" indent="-86360">
              <a:lnSpc>
                <a:spcPts val="1265"/>
              </a:lnSpc>
              <a:buFont typeface="Arial MT"/>
              <a:buChar char="•"/>
              <a:tabLst>
                <a:tab pos="594995" algn="l"/>
              </a:tabLst>
            </a:pPr>
            <a:r>
              <a:rPr sz="1100" b="1" dirty="0">
                <a:latin typeface="Arial"/>
                <a:cs typeface="Arial"/>
              </a:rPr>
              <a:t>Routes</a:t>
            </a:r>
            <a:r>
              <a:rPr sz="1100" dirty="0">
                <a:latin typeface="Arial MT"/>
                <a:cs typeface="Arial MT"/>
              </a:rPr>
              <a:t>: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endpoints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products</a:t>
            </a:r>
            <a:endParaRPr sz="1100">
              <a:latin typeface="Arial MT"/>
              <a:cs typeface="Arial MT"/>
            </a:endParaRPr>
          </a:p>
          <a:p>
            <a:pPr marL="594995" lvl="1" indent="-86360">
              <a:lnSpc>
                <a:spcPts val="1265"/>
              </a:lnSpc>
              <a:buFont typeface="Arial MT"/>
              <a:buChar char="•"/>
              <a:tabLst>
                <a:tab pos="594995" algn="l"/>
              </a:tabLst>
            </a:pPr>
            <a:r>
              <a:rPr sz="1100" b="1" spc="-10" dirty="0">
                <a:latin typeface="Arial"/>
                <a:cs typeface="Arial"/>
              </a:rPr>
              <a:t>Middleware</a:t>
            </a:r>
            <a:r>
              <a:rPr sz="1100" spc="-10" dirty="0">
                <a:latin typeface="Arial MT"/>
                <a:cs typeface="Arial MT"/>
              </a:rPr>
              <a:t>: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verification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error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handling</a:t>
            </a:r>
            <a:endParaRPr sz="1100">
              <a:latin typeface="Arial MT"/>
              <a:cs typeface="Arial MT"/>
            </a:endParaRPr>
          </a:p>
          <a:p>
            <a:pPr marL="594995" lvl="1" indent="-86360">
              <a:lnSpc>
                <a:spcPts val="1290"/>
              </a:lnSpc>
              <a:buFont typeface="Arial MT"/>
              <a:buChar char="•"/>
              <a:tabLst>
                <a:tab pos="594995" algn="l"/>
              </a:tabLst>
            </a:pPr>
            <a:r>
              <a:rPr sz="1100" b="1" spc="-10" dirty="0">
                <a:latin typeface="Arial"/>
                <a:cs typeface="Arial"/>
              </a:rPr>
              <a:t>Configuration</a:t>
            </a:r>
            <a:r>
              <a:rPr sz="1100" spc="-10" dirty="0">
                <a:latin typeface="Arial MT"/>
                <a:cs typeface="Arial MT"/>
              </a:rPr>
              <a:t>: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Environment variables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</a:t>
            </a:r>
            <a:r>
              <a:rPr sz="1100" spc="-10" dirty="0">
                <a:latin typeface="Arial MT"/>
                <a:cs typeface="Arial MT"/>
              </a:rPr>
              <a:t> connection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53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1505709"/>
            <a:ext cx="5867400" cy="3000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object 2"/>
          <p:cNvSpPr txBox="1"/>
          <p:nvPr/>
        </p:nvSpPr>
        <p:spPr>
          <a:xfrm>
            <a:off x="901700" y="893036"/>
            <a:ext cx="3136900" cy="4729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Database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Architecture</a:t>
            </a:r>
            <a:r>
              <a:rPr sz="1100" b="1" spc="1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(MongoDB)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ts val="1290"/>
              </a:lnSpc>
              <a:spcBef>
                <a:spcPts val="1145"/>
              </a:spcBef>
            </a:pPr>
            <a:r>
              <a:rPr sz="1100" b="1" dirty="0">
                <a:latin typeface="Arial"/>
                <a:cs typeface="Arial"/>
              </a:rPr>
              <a:t>Users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Collection:</a:t>
            </a:r>
            <a:endParaRPr sz="1100">
              <a:latin typeface="Arial"/>
              <a:cs typeface="Arial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25" dirty="0">
                <a:latin typeface="Arial MT"/>
                <a:cs typeface="Arial MT"/>
              </a:rPr>
              <a:t>_id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20" dirty="0">
                <a:latin typeface="Arial MT"/>
                <a:cs typeface="Arial MT"/>
              </a:rPr>
              <a:t>name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email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password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(hashed)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90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timestamps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10" dirty="0">
                <a:latin typeface="Arial"/>
                <a:cs typeface="Arial"/>
              </a:rPr>
              <a:t>Products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Collection:</a:t>
            </a:r>
            <a:endParaRPr sz="1100">
              <a:latin typeface="Arial"/>
              <a:cs typeface="Arial"/>
            </a:endParaRPr>
          </a:p>
          <a:p>
            <a:pPr marL="594995" indent="-86360">
              <a:lnSpc>
                <a:spcPts val="1290"/>
              </a:lnSpc>
              <a:spcBef>
                <a:spcPts val="1145"/>
              </a:spcBef>
              <a:buChar char="•"/>
              <a:tabLst>
                <a:tab pos="594995" algn="l"/>
              </a:tabLst>
            </a:pPr>
            <a:r>
              <a:rPr sz="1100" spc="-25" dirty="0">
                <a:latin typeface="Arial MT"/>
                <a:cs typeface="Arial MT"/>
              </a:rPr>
              <a:t>_id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userId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(reference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user)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20" dirty="0">
                <a:latin typeface="Arial MT"/>
                <a:cs typeface="Arial MT"/>
              </a:rPr>
              <a:t>name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price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quantity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90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timestamps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10" dirty="0">
                <a:latin typeface="Arial"/>
                <a:cs typeface="Arial"/>
              </a:rPr>
              <a:t>Relationship: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One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Many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spc="-10" dirty="0">
                <a:latin typeface="Arial"/>
                <a:cs typeface="Arial"/>
              </a:rPr>
              <a:t>Indexes:</a:t>
            </a:r>
            <a:endParaRPr sz="1100">
              <a:latin typeface="Arial"/>
              <a:cs typeface="Arial"/>
            </a:endParaRPr>
          </a:p>
          <a:p>
            <a:pPr marL="594995" indent="-86360">
              <a:lnSpc>
                <a:spcPts val="1290"/>
              </a:lnSpc>
              <a:spcBef>
                <a:spcPts val="1145"/>
              </a:spcBef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email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(unique)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65"/>
              </a:lnSpc>
              <a:buChar char="•"/>
              <a:tabLst>
                <a:tab pos="594995" algn="l"/>
              </a:tabLst>
            </a:pPr>
            <a:r>
              <a:rPr sz="1100" spc="-10" dirty="0">
                <a:latin typeface="Arial MT"/>
                <a:cs typeface="Arial MT"/>
              </a:rPr>
              <a:t>userId</a:t>
            </a:r>
            <a:endParaRPr sz="1100">
              <a:latin typeface="Arial MT"/>
              <a:cs typeface="Arial MT"/>
            </a:endParaRPr>
          </a:p>
          <a:p>
            <a:pPr marL="594995" indent="-86360">
              <a:lnSpc>
                <a:spcPts val="1290"/>
              </a:lnSpc>
              <a:buChar char="•"/>
              <a:tabLst>
                <a:tab pos="594995" algn="l"/>
              </a:tabLst>
            </a:pP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name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655"/>
              </a:lnSpc>
              <a:spcBef>
                <a:spcPts val="1125"/>
              </a:spcBef>
            </a:pPr>
            <a:r>
              <a:rPr sz="1400" b="1" dirty="0">
                <a:latin typeface="Arial"/>
                <a:cs typeface="Arial"/>
              </a:rPr>
              <a:t>ER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Diagram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295"/>
              </a:lnSpc>
            </a:pPr>
            <a:r>
              <a:rPr sz="1100" dirty="0">
                <a:latin typeface="Arial MT"/>
                <a:cs typeface="Arial MT"/>
              </a:rPr>
              <a:t>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diagram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showing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relationship: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54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5578171"/>
            <a:ext cx="5943600" cy="3057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5" name="object 2"/>
          <p:cNvGraphicFramePr>
            <a:graphicFrameLocks noGrp="1"/>
          </p:cNvGraphicFramePr>
          <p:nvPr/>
        </p:nvGraphicFramePr>
        <p:xfrm>
          <a:off x="914400" y="1447801"/>
          <a:ext cx="5105400" cy="196723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/>
                <a:gridCol w="1524000"/>
                <a:gridCol w="2895600"/>
              </a:tblGrid>
              <a:tr h="330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b="1" spc="-20" dirty="0">
                          <a:latin typeface="Arial"/>
                          <a:cs typeface="Arial"/>
                        </a:rPr>
                        <a:t>S.No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51244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Feature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b="1" spc="-10" dirty="0">
                          <a:latin typeface="Arial"/>
                          <a:cs typeface="Arial"/>
                        </a:rPr>
                        <a:t>Description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</a:tr>
              <a:tr h="330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1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User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Authentication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35"/>
                        </a:spcBef>
                      </a:pPr>
                      <a:r>
                        <a:rPr sz="1200" spc="-30" dirty="0">
                          <a:latin typeface="Arial MT"/>
                          <a:cs typeface="Arial MT"/>
                        </a:rPr>
                        <a:t>JWT-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based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register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login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system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794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295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2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CRUD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Add,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view,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update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and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delete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products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54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3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Private</a:t>
                      </a:r>
                      <a:r>
                        <a:rPr sz="1200" spc="-5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Data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Access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9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Users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access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only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their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own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products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62866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4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Product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Search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7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Search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products</a:t>
                      </a:r>
                      <a:r>
                        <a:rPr sz="1200" spc="-40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by</a:t>
                      </a:r>
                      <a:r>
                        <a:rPr sz="1200" spc="-4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0" dirty="0">
                          <a:latin typeface="Arial MT"/>
                          <a:cs typeface="Arial MT"/>
                        </a:rPr>
                        <a:t>name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3024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30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spc="-50" dirty="0">
                          <a:latin typeface="Arial MT"/>
                          <a:cs typeface="Arial MT"/>
                        </a:rPr>
                        <a:t>5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dirty="0">
                          <a:latin typeface="Arial MT"/>
                          <a:cs typeface="Arial MT"/>
                        </a:rPr>
                        <a:t>Secure</a:t>
                      </a:r>
                      <a:r>
                        <a:rPr sz="1200" spc="-5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25" dirty="0">
                          <a:latin typeface="Arial MT"/>
                          <a:cs typeface="Arial MT"/>
                        </a:rPr>
                        <a:t>API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sz="1200" spc="-10" dirty="0">
                          <a:latin typeface="Arial MT"/>
                          <a:cs typeface="Arial MT"/>
                        </a:rPr>
                        <a:t>Middleware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dirty="0">
                          <a:latin typeface="Arial MT"/>
                          <a:cs typeface="Arial MT"/>
                        </a:rPr>
                        <a:t>protected</a:t>
                      </a:r>
                      <a:r>
                        <a:rPr sz="1200" spc="-35" dirty="0">
                          <a:latin typeface="Arial MT"/>
                          <a:cs typeface="Arial MT"/>
                        </a:rPr>
                        <a:t> </a:t>
                      </a:r>
                      <a:r>
                        <a:rPr sz="1200" spc="-10" dirty="0">
                          <a:latin typeface="Arial MT"/>
                          <a:cs typeface="Arial MT"/>
                        </a:rPr>
                        <a:t>routes</a:t>
                      </a:r>
                      <a:endParaRPr sz="1200">
                        <a:latin typeface="Arial MT"/>
                        <a:cs typeface="Arial MT"/>
                      </a:endParaRPr>
                    </a:p>
                  </a:txBody>
                  <a:tcPr marL="0" marR="0" marT="7048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48596" name="object 3"/>
          <p:cNvSpPr txBox="1"/>
          <p:nvPr/>
        </p:nvSpPr>
        <p:spPr>
          <a:xfrm>
            <a:off x="901701" y="890674"/>
            <a:ext cx="964565" cy="5129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Arial"/>
                <a:cs typeface="Arial"/>
              </a:rPr>
              <a:t>Features: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sz="1100" b="1" dirty="0">
                <a:latin typeface="Arial"/>
                <a:cs typeface="Arial"/>
              </a:rPr>
              <a:t>Core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597" name="object 4"/>
          <p:cNvSpPr txBox="1"/>
          <p:nvPr/>
        </p:nvSpPr>
        <p:spPr>
          <a:xfrm>
            <a:off x="901701" y="3817671"/>
            <a:ext cx="4936490" cy="31008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Roles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2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Responsibility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415"/>
              </a:lnSpc>
              <a:spcBef>
                <a:spcPts val="1550"/>
              </a:spcBef>
            </a:pPr>
            <a:r>
              <a:rPr sz="1200" b="1" spc="-20" dirty="0">
                <a:latin typeface="Arial"/>
                <a:cs typeface="Arial"/>
              </a:rPr>
              <a:t>User</a:t>
            </a:r>
            <a:endParaRPr sz="1200">
              <a:latin typeface="Arial"/>
              <a:cs typeface="Arial"/>
            </a:endParaRPr>
          </a:p>
          <a:p>
            <a:pPr marL="469900">
              <a:lnSpc>
                <a:spcPts val="1265"/>
              </a:lnSpc>
            </a:pPr>
            <a:r>
              <a:rPr sz="1100" b="1" spc="-10" dirty="0">
                <a:latin typeface="Arial"/>
                <a:cs typeface="Arial"/>
              </a:rPr>
              <a:t>Registration: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Register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name,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password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65"/>
              </a:lnSpc>
            </a:pPr>
            <a:r>
              <a:rPr sz="1100" b="1" dirty="0">
                <a:latin typeface="Arial"/>
                <a:cs typeface="Arial"/>
              </a:rPr>
              <a:t>Login: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Login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registered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credentials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65"/>
              </a:lnSpc>
            </a:pPr>
            <a:r>
              <a:rPr sz="1100" b="1" dirty="0">
                <a:latin typeface="Arial"/>
                <a:cs typeface="Arial"/>
              </a:rPr>
              <a:t>Add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quantity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65"/>
              </a:lnSpc>
            </a:pPr>
            <a:r>
              <a:rPr sz="1100" b="1" dirty="0">
                <a:latin typeface="Arial"/>
                <a:cs typeface="Arial"/>
              </a:rPr>
              <a:t>Edit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Update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existing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65"/>
              </a:lnSpc>
            </a:pPr>
            <a:r>
              <a:rPr sz="1100" b="1" dirty="0">
                <a:latin typeface="Arial"/>
                <a:cs typeface="Arial"/>
              </a:rPr>
              <a:t>Delete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Remove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inventory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60"/>
              </a:lnSpc>
            </a:pPr>
            <a:r>
              <a:rPr sz="1100" b="1" dirty="0">
                <a:latin typeface="Arial"/>
                <a:cs typeface="Arial"/>
              </a:rPr>
              <a:t>Search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Search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keyword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ts val="1410"/>
              </a:lnSpc>
            </a:pPr>
            <a:r>
              <a:rPr sz="1200" b="1" dirty="0">
                <a:latin typeface="Arial"/>
                <a:cs typeface="Arial"/>
              </a:rPr>
              <a:t>User </a:t>
            </a:r>
            <a:r>
              <a:rPr sz="1200" b="1" spc="-20" dirty="0">
                <a:latin typeface="Arial"/>
                <a:cs typeface="Arial"/>
              </a:rPr>
              <a:t>Flow</a:t>
            </a:r>
            <a:endParaRPr sz="1200">
              <a:latin typeface="Arial"/>
              <a:cs typeface="Arial"/>
            </a:endParaRPr>
          </a:p>
          <a:p>
            <a:pPr marL="466725" indent="-225425">
              <a:lnSpc>
                <a:spcPts val="1290"/>
              </a:lnSpc>
              <a:spcBef>
                <a:spcPts val="1145"/>
              </a:spcBef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register/login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65"/>
              </a:lnSpc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backend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generates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token.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65"/>
              </a:lnSpc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Authorization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header.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65"/>
              </a:lnSpc>
              <a:buAutoNum type="arabicPeriod"/>
              <a:tabLst>
                <a:tab pos="466725" algn="l"/>
              </a:tabLst>
            </a:pPr>
            <a:r>
              <a:rPr sz="1100" spc="-10" dirty="0">
                <a:latin typeface="Arial MT"/>
                <a:cs typeface="Arial MT"/>
              </a:rPr>
              <a:t>Middleware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verifies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token.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65"/>
              </a:lnSpc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controller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performs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CRUD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65"/>
              </a:lnSpc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MongoDB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stores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retrieves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 marL="466725" indent="-225425">
              <a:lnSpc>
                <a:spcPts val="1290"/>
              </a:lnSpc>
              <a:buAutoNum type="arabicPeriod"/>
              <a:tabLst>
                <a:tab pos="466725" algn="l"/>
              </a:tabLst>
            </a:pP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sends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response.</a:t>
            </a:r>
            <a:endParaRPr sz="1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object 2"/>
          <p:cNvSpPr txBox="1"/>
          <p:nvPr/>
        </p:nvSpPr>
        <p:spPr>
          <a:xfrm>
            <a:off x="901701" y="5014579"/>
            <a:ext cx="2750820" cy="60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Project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Setup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Configuration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100" b="1" dirty="0">
                <a:latin typeface="Arial"/>
                <a:cs typeface="Arial"/>
              </a:rPr>
              <a:t>Folder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Structure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599" name="object 3"/>
          <p:cNvSpPr txBox="1"/>
          <p:nvPr/>
        </p:nvSpPr>
        <p:spPr>
          <a:xfrm>
            <a:off x="914400" y="5768493"/>
            <a:ext cx="5943600" cy="2953373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546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30"/>
              </a:spcBef>
            </a:pP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server/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endParaRPr sz="1100">
              <a:latin typeface="Arial"/>
              <a:cs typeface="Arial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node_modules/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├──</a:t>
            </a:r>
            <a:r>
              <a:rPr sz="1100" b="1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Consolas"/>
                <a:cs typeface="Consolas"/>
              </a:rPr>
              <a:t>src/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5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controllers/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Consolas"/>
                <a:cs typeface="Consolas"/>
              </a:rPr>
              <a:t>db/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middlewares/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models/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5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routes/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  <a:tabLst>
                <a:tab pos="383540" algn="l"/>
              </a:tabLst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	└──</a:t>
            </a:r>
            <a:r>
              <a:rPr sz="1100" b="1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server</a:t>
            </a:r>
            <a:r>
              <a:rPr sz="1100" b="1" spc="-10" dirty="0">
                <a:solidFill>
                  <a:srgbClr val="9A869A"/>
                </a:solidFill>
                <a:latin typeface="Consolas"/>
                <a:cs typeface="Consolas"/>
              </a:rPr>
              <a:t>.js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spc="-50" dirty="0">
                <a:solidFill>
                  <a:srgbClr val="FFFFFF"/>
                </a:solidFill>
                <a:latin typeface="Arial"/>
                <a:cs typeface="Arial"/>
              </a:rPr>
              <a:t>│</a:t>
            </a:r>
            <a:endParaRPr sz="1100">
              <a:latin typeface="Arial"/>
              <a:cs typeface="Arial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├──</a:t>
            </a:r>
            <a:r>
              <a:rPr sz="1100" b="1" spc="2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20" dirty="0">
                <a:solidFill>
                  <a:srgbClr val="9A869A"/>
                </a:solidFill>
                <a:latin typeface="Consolas"/>
                <a:cs typeface="Consolas"/>
              </a:rPr>
              <a:t>.env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5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├──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9A869A"/>
                </a:solidFill>
                <a:latin typeface="Consolas"/>
                <a:cs typeface="Consolas"/>
              </a:rPr>
              <a:t>.gitignore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├──</a:t>
            </a:r>
            <a:r>
              <a:rPr sz="1100" b="1" spc="3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package-lock</a:t>
            </a:r>
            <a:r>
              <a:rPr sz="1100" b="1" spc="-10" dirty="0">
                <a:solidFill>
                  <a:srgbClr val="9A869A"/>
                </a:solidFill>
                <a:latin typeface="Consolas"/>
                <a:cs typeface="Consolas"/>
              </a:rPr>
              <a:t>.json</a:t>
            </a:r>
            <a:endParaRPr sz="1100">
              <a:latin typeface="Consolas"/>
              <a:cs typeface="Consolas"/>
            </a:endParaRPr>
          </a:p>
          <a:p>
            <a:pPr marL="66675">
              <a:lnSpc>
                <a:spcPct val="100000"/>
              </a:lnSpc>
              <a:spcBef>
                <a:spcPts val="160"/>
              </a:spcBef>
            </a:pPr>
            <a:r>
              <a:rPr sz="1100" b="1" dirty="0">
                <a:solidFill>
                  <a:srgbClr val="FFFFFF"/>
                </a:solidFill>
                <a:latin typeface="Arial"/>
                <a:cs typeface="Arial"/>
              </a:rPr>
              <a:t>└──</a:t>
            </a:r>
            <a:r>
              <a:rPr sz="1100" b="1" spc="2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FFFFFF"/>
                </a:solidFill>
                <a:latin typeface="Consolas"/>
                <a:cs typeface="Consolas"/>
              </a:rPr>
              <a:t>package.json</a:t>
            </a:r>
            <a:endParaRPr sz="1100">
              <a:latin typeface="Consolas"/>
              <a:cs typeface="Consolas"/>
            </a:endParaRPr>
          </a:p>
        </p:txBody>
      </p:sp>
      <p:pic>
        <p:nvPicPr>
          <p:cNvPr id="2097155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933452"/>
            <a:ext cx="6115050" cy="4067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bject 2"/>
          <p:cNvSpPr txBox="1"/>
          <p:nvPr/>
        </p:nvSpPr>
        <p:spPr>
          <a:xfrm>
            <a:off x="901700" y="4980292"/>
            <a:ext cx="2904490" cy="4667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Initialize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Node.js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Project: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45"/>
              </a:spcBef>
            </a:pPr>
            <a:r>
              <a:rPr sz="1100" dirty="0">
                <a:latin typeface="Arial MT"/>
                <a:cs typeface="Arial MT"/>
              </a:rPr>
              <a:t>Open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terminal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inside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folder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run: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01" name="object 3"/>
          <p:cNvSpPr txBox="1"/>
          <p:nvPr/>
        </p:nvSpPr>
        <p:spPr>
          <a:xfrm>
            <a:off x="914400" y="5474033"/>
            <a:ext cx="5943600" cy="224420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546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30"/>
              </a:spcBef>
            </a:pPr>
            <a:r>
              <a:rPr sz="1100" dirty="0">
                <a:solidFill>
                  <a:srgbClr val="AB865C"/>
                </a:solidFill>
                <a:latin typeface="Consolas"/>
                <a:cs typeface="Consolas"/>
              </a:rPr>
              <a:t>npm</a:t>
            </a:r>
            <a:r>
              <a:rPr sz="1100" spc="-15" dirty="0">
                <a:solidFill>
                  <a:srgbClr val="AB865C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init</a:t>
            </a:r>
            <a:r>
              <a:rPr sz="1100" spc="-1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-</a:t>
            </a:r>
            <a:r>
              <a:rPr sz="1100" spc="-60" dirty="0">
                <a:solidFill>
                  <a:srgbClr val="FFFFFF"/>
                </a:solidFill>
                <a:latin typeface="Consolas"/>
                <a:cs typeface="Consolas"/>
              </a:rPr>
              <a:t>y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48602" name="object 4"/>
          <p:cNvSpPr txBox="1"/>
          <p:nvPr/>
        </p:nvSpPr>
        <p:spPr>
          <a:xfrm>
            <a:off x="901701" y="5789477"/>
            <a:ext cx="4693920" cy="8053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package.json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file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project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dependencies.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100" b="1" dirty="0">
                <a:latin typeface="Arial"/>
                <a:cs typeface="Arial"/>
              </a:rPr>
              <a:t>Install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Required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Packages: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945"/>
              </a:spcBef>
            </a:pPr>
            <a:r>
              <a:rPr sz="1100" dirty="0">
                <a:latin typeface="Arial MT"/>
                <a:cs typeface="Arial MT"/>
              </a:rPr>
              <a:t>Install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backend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dependencies: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03" name="object 5"/>
          <p:cNvSpPr txBox="1"/>
          <p:nvPr/>
        </p:nvSpPr>
        <p:spPr>
          <a:xfrm>
            <a:off x="914400" y="6588663"/>
            <a:ext cx="5943600" cy="224420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546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30"/>
              </a:spcBef>
            </a:pP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npm</a:t>
            </a:r>
            <a:r>
              <a:rPr sz="1100" spc="-4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8F9C6B"/>
                </a:solidFill>
                <a:latin typeface="Consolas"/>
                <a:cs typeface="Consolas"/>
              </a:rPr>
              <a:t>install</a:t>
            </a:r>
            <a:r>
              <a:rPr sz="1100" spc="-35" dirty="0">
                <a:solidFill>
                  <a:srgbClr val="8F9C6B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express</a:t>
            </a:r>
            <a:r>
              <a:rPr sz="11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mongoose</a:t>
            </a:r>
            <a:r>
              <a:rPr sz="1100" spc="-3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cors</a:t>
            </a:r>
            <a:r>
              <a:rPr sz="11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dotenv</a:t>
            </a:r>
            <a:r>
              <a:rPr sz="11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100" dirty="0">
                <a:solidFill>
                  <a:srgbClr val="8F9C6B"/>
                </a:solidFill>
                <a:latin typeface="Consolas"/>
                <a:cs typeface="Consolas"/>
              </a:rPr>
              <a:t>jsonwebtoken</a:t>
            </a:r>
            <a:r>
              <a:rPr sz="1100" spc="-30" dirty="0">
                <a:solidFill>
                  <a:srgbClr val="8F9C6B"/>
                </a:solidFill>
                <a:latin typeface="Consolas"/>
                <a:cs typeface="Consolas"/>
              </a:rPr>
              <a:t> </a:t>
            </a:r>
            <a:r>
              <a:rPr sz="1100" spc="-10" dirty="0">
                <a:solidFill>
                  <a:srgbClr val="8F9C6B"/>
                </a:solidFill>
                <a:latin typeface="Consolas"/>
                <a:cs typeface="Consolas"/>
              </a:rPr>
              <a:t>bcryptjs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48604" name="object 6"/>
          <p:cNvSpPr txBox="1"/>
          <p:nvPr/>
        </p:nvSpPr>
        <p:spPr>
          <a:xfrm>
            <a:off x="901701" y="7049400"/>
            <a:ext cx="2686685" cy="16337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</a:rPr>
              <a:t>Package</a:t>
            </a:r>
            <a:r>
              <a:rPr sz="1100" spc="-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Purpose: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90"/>
              </a:lnSpc>
              <a:spcBef>
                <a:spcPts val="114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express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Backend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framework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mongoose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MongoDB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connection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cors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Cross-</a:t>
            </a:r>
            <a:r>
              <a:rPr sz="1100" dirty="0">
                <a:latin typeface="Arial MT"/>
                <a:cs typeface="Arial MT"/>
              </a:rPr>
              <a:t>origin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requests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dotenv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Environment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variables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jsonwebtoken</a:t>
            </a:r>
            <a:r>
              <a:rPr sz="1100" spc="-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 </a:t>
            </a:r>
            <a:r>
              <a:rPr sz="1100" spc="-10" dirty="0">
                <a:latin typeface="Arial MT"/>
                <a:cs typeface="Arial MT"/>
              </a:rPr>
              <a:t>Authentication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9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bcryptjs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→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Password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hashing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Environment</a:t>
            </a:r>
            <a:r>
              <a:rPr sz="1100" b="1" spc="-20" dirty="0">
                <a:latin typeface="Arial"/>
                <a:cs typeface="Arial"/>
              </a:rPr>
              <a:t> File: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05" name="object 7"/>
          <p:cNvSpPr txBox="1"/>
          <p:nvPr/>
        </p:nvSpPr>
        <p:spPr>
          <a:xfrm>
            <a:off x="1566189" y="8660693"/>
            <a:ext cx="384175" cy="166712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50"/>
              </a:lnSpc>
            </a:pPr>
            <a:r>
              <a:rPr sz="1100" spc="-20" dirty="0">
                <a:solidFill>
                  <a:srgbClr val="9A869A"/>
                </a:solidFill>
                <a:latin typeface="Consolas"/>
                <a:cs typeface="Consolas"/>
              </a:rPr>
              <a:t>.env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48606" name="object 8"/>
          <p:cNvSpPr txBox="1"/>
          <p:nvPr/>
        </p:nvSpPr>
        <p:spPr>
          <a:xfrm>
            <a:off x="979272" y="8639331"/>
            <a:ext cx="309435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09015" algn="l"/>
              </a:tabLst>
            </a:pP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50" dirty="0">
                <a:latin typeface="Arial MT"/>
                <a:cs typeface="Arial MT"/>
              </a:rPr>
              <a:t> a</a:t>
            </a:r>
            <a:r>
              <a:rPr sz="1100" dirty="0">
                <a:latin typeface="Arial MT"/>
                <a:cs typeface="Arial MT"/>
              </a:rPr>
              <a:t>	file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root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folder.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07" name="object 9"/>
          <p:cNvSpPr txBox="1"/>
          <p:nvPr/>
        </p:nvSpPr>
        <p:spPr>
          <a:xfrm>
            <a:off x="979272" y="8806316"/>
            <a:ext cx="6076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latin typeface="Arial MT"/>
                <a:cs typeface="Arial MT"/>
              </a:rPr>
              <a:t>Example: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56" name="object 10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1" y="933449"/>
            <a:ext cx="2390775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object 2"/>
          <p:cNvSpPr/>
          <p:nvPr/>
        </p:nvSpPr>
        <p:spPr>
          <a:xfrm>
            <a:off x="1325705" y="2507296"/>
            <a:ext cx="998219" cy="167005"/>
          </a:xfrm>
          <a:custGeom>
            <a:avLst/>
            <a:gdLst/>
            <a:ahLst/>
            <a:cxnLst/>
            <a:rect l="l" t="t" r="r" b="b"/>
            <a:pathLst>
              <a:path w="998219" h="167005">
                <a:moveTo>
                  <a:pt x="997791" y="166985"/>
                </a:moveTo>
                <a:lnTo>
                  <a:pt x="0" y="166985"/>
                </a:lnTo>
                <a:lnTo>
                  <a:pt x="0" y="0"/>
                </a:lnTo>
                <a:lnTo>
                  <a:pt x="997791" y="0"/>
                </a:lnTo>
                <a:lnTo>
                  <a:pt x="997791" y="166985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8609" name="object 3"/>
          <p:cNvSpPr txBox="1"/>
          <p:nvPr/>
        </p:nvSpPr>
        <p:spPr>
          <a:xfrm>
            <a:off x="914400" y="1075042"/>
            <a:ext cx="5943600" cy="603627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5461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30"/>
              </a:spcBef>
            </a:pPr>
            <a:r>
              <a:rPr sz="1100" spc="-10" dirty="0">
                <a:solidFill>
                  <a:srgbClr val="9A869A"/>
                </a:solidFill>
                <a:latin typeface="Consolas"/>
                <a:cs typeface="Consolas"/>
              </a:rPr>
              <a:t>PORT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=5000</a:t>
            </a:r>
            <a:endParaRPr sz="1100">
              <a:latin typeface="Consolas"/>
              <a:cs typeface="Consolas"/>
            </a:endParaRPr>
          </a:p>
          <a:p>
            <a:pPr marL="66675" marR="2799080">
              <a:lnSpc>
                <a:spcPct val="112200"/>
              </a:lnSpc>
            </a:pPr>
            <a:r>
              <a:rPr sz="1100" spc="-10" dirty="0">
                <a:solidFill>
                  <a:srgbClr val="9A869A"/>
                </a:solidFill>
                <a:latin typeface="Consolas"/>
                <a:cs typeface="Consolas"/>
              </a:rPr>
              <a:t>MONGO_URI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=your_mongodb_connection_string </a:t>
            </a:r>
            <a:r>
              <a:rPr sz="1100" spc="-10" dirty="0">
                <a:solidFill>
                  <a:srgbClr val="9A869A"/>
                </a:solidFill>
                <a:latin typeface="Consolas"/>
                <a:cs typeface="Consolas"/>
              </a:rPr>
              <a:t>JWT_SECRET</a:t>
            </a:r>
            <a:r>
              <a:rPr sz="1100" spc="-10" dirty="0">
                <a:solidFill>
                  <a:srgbClr val="FFFFFF"/>
                </a:solidFill>
                <a:latin typeface="Consolas"/>
                <a:cs typeface="Consolas"/>
              </a:rPr>
              <a:t>=your_secret_key</a:t>
            </a:r>
            <a:endParaRPr sz="1100">
              <a:latin typeface="Consolas"/>
              <a:cs typeface="Consolas"/>
            </a:endParaRPr>
          </a:p>
        </p:txBody>
      </p:sp>
      <p:sp>
        <p:nvSpPr>
          <p:cNvPr id="1048610" name="object 4"/>
          <p:cNvSpPr txBox="1"/>
          <p:nvPr/>
        </p:nvSpPr>
        <p:spPr>
          <a:xfrm>
            <a:off x="901700" y="1909639"/>
            <a:ext cx="3498850" cy="75918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Backend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Development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1100" b="1" dirty="0">
                <a:latin typeface="Arial"/>
                <a:cs typeface="Arial"/>
              </a:rPr>
              <a:t>Setup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Express</a:t>
            </a:r>
            <a:r>
              <a:rPr sz="1100" b="1" spc="-6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Server:</a:t>
            </a:r>
            <a:endParaRPr sz="11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100" dirty="0">
                <a:latin typeface="Arial MT"/>
                <a:cs typeface="Arial MT"/>
              </a:rPr>
              <a:t>Inside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src/</a:t>
            </a:r>
            <a:r>
              <a:rPr sz="1100" dirty="0">
                <a:solidFill>
                  <a:srgbClr val="8F9C6B"/>
                </a:solidFill>
                <a:latin typeface="Consolas"/>
                <a:cs typeface="Consolas"/>
              </a:rPr>
              <a:t>server</a:t>
            </a:r>
            <a:r>
              <a:rPr sz="1100" dirty="0">
                <a:solidFill>
                  <a:srgbClr val="FFFFFF"/>
                </a:solidFill>
                <a:latin typeface="Consolas"/>
                <a:cs typeface="Consolas"/>
              </a:rPr>
              <a:t>.js</a:t>
            </a:r>
            <a:r>
              <a:rPr sz="1100" dirty="0">
                <a:latin typeface="Arial MT"/>
                <a:cs typeface="Arial MT"/>
              </a:rPr>
              <a:t>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basic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Express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server.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11" name="object 5"/>
          <p:cNvSpPr txBox="1"/>
          <p:nvPr/>
        </p:nvSpPr>
        <p:spPr>
          <a:xfrm>
            <a:off x="901700" y="5083916"/>
            <a:ext cx="1504950" cy="76841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60"/>
              </a:spcBef>
            </a:pPr>
            <a:r>
              <a:rPr sz="1200" b="1" dirty="0">
                <a:latin typeface="Arial"/>
                <a:cs typeface="Arial"/>
              </a:rPr>
              <a:t>Create </a:t>
            </a:r>
            <a:r>
              <a:rPr sz="1200" b="1" spc="-10" dirty="0">
                <a:latin typeface="Arial"/>
                <a:cs typeface="Arial"/>
              </a:rPr>
              <a:t>Controllers </a:t>
            </a:r>
            <a:r>
              <a:rPr sz="1200" dirty="0">
                <a:latin typeface="Arial MT"/>
                <a:cs typeface="Arial MT"/>
              </a:rPr>
              <a:t>Inside: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src/controllers/ Create: </a:t>
            </a:r>
            <a:r>
              <a:rPr sz="1200" b="1" spc="-10" dirty="0">
                <a:latin typeface="Arial"/>
                <a:cs typeface="Arial"/>
              </a:rPr>
              <a:t>auth.controller.js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57" name="object 6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1" y="2693330"/>
            <a:ext cx="4162425" cy="2209800"/>
          </a:xfrm>
          <a:prstGeom prst="rect">
            <a:avLst/>
          </a:prstGeom>
        </p:spPr>
      </p:pic>
      <p:pic>
        <p:nvPicPr>
          <p:cNvPr id="2097158" name="object 7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14400" y="6063505"/>
            <a:ext cx="4743450" cy="27717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object 2"/>
          <p:cNvSpPr txBox="1"/>
          <p:nvPr/>
        </p:nvSpPr>
        <p:spPr>
          <a:xfrm>
            <a:off x="901701" y="890675"/>
            <a:ext cx="5941695" cy="3352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55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Auth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Controllers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6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Controller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authentication-</a:t>
            </a:r>
            <a:r>
              <a:rPr sz="1100" dirty="0">
                <a:latin typeface="Arial MT"/>
                <a:cs typeface="Arial MT"/>
              </a:rPr>
              <a:t>related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system.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handles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registration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functionality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ensuring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tokens.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sz="1200" b="1" spc="-10" dirty="0">
                <a:latin typeface="Arial"/>
                <a:cs typeface="Arial"/>
              </a:rPr>
              <a:t>Responsibilities:</a:t>
            </a:r>
            <a:endParaRPr sz="1200">
              <a:latin typeface="Arial"/>
              <a:cs typeface="Arial"/>
            </a:endParaRPr>
          </a:p>
          <a:p>
            <a:pPr marL="469265" indent="-227965">
              <a:lnSpc>
                <a:spcPts val="1290"/>
              </a:lnSpc>
              <a:spcBef>
                <a:spcPts val="1145"/>
              </a:spcBef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Register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users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0"/>
              </a:lnSpc>
              <a:buChar char="●"/>
              <a:tabLst>
                <a:tab pos="469265" algn="l"/>
              </a:tabLst>
            </a:pPr>
            <a:r>
              <a:rPr sz="1100" spc="-20" dirty="0">
                <a:latin typeface="Arial MT"/>
                <a:cs typeface="Arial MT"/>
              </a:rPr>
              <a:t>Validate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input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data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Hash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passwords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bcrypt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before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storing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0"/>
              </a:lnSpc>
              <a:buChar char="●"/>
              <a:tabLst>
                <a:tab pos="469265" algn="l"/>
              </a:tabLst>
            </a:pPr>
            <a:r>
              <a:rPr sz="1100" spc="-10" dirty="0">
                <a:latin typeface="Arial MT"/>
                <a:cs typeface="Arial MT"/>
              </a:rPr>
              <a:t>Authenticate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during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login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Generate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authorized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9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Send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appropriate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success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error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responses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Main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Functionalities:</a:t>
            </a:r>
            <a:endParaRPr sz="1200">
              <a:latin typeface="Arial"/>
              <a:cs typeface="Arial"/>
            </a:endParaRPr>
          </a:p>
          <a:p>
            <a:pPr marL="469900" marR="461645" indent="-228600">
              <a:lnSpc>
                <a:spcPts val="1260"/>
              </a:lnSpc>
              <a:spcBef>
                <a:spcPts val="1235"/>
              </a:spcBef>
              <a:buChar char="●"/>
              <a:tabLst>
                <a:tab pos="469900" algn="l"/>
              </a:tabLst>
            </a:pPr>
            <a:r>
              <a:rPr sz="1100" spc="-10" dirty="0">
                <a:latin typeface="Arial MT"/>
                <a:cs typeface="Arial MT"/>
              </a:rPr>
              <a:t>Register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account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after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validating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uniqueness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spc="-10" dirty="0">
                <a:latin typeface="Arial MT"/>
                <a:cs typeface="Arial MT"/>
              </a:rPr>
              <a:t>encrypting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10" dirty="0">
                <a:latin typeface="Arial MT"/>
                <a:cs typeface="Arial MT"/>
              </a:rPr>
              <a:t> password.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3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Login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User: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Verifies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credentials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returns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protected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1200" b="1" spc="-10" dirty="0">
                <a:latin typeface="Arial"/>
                <a:cs typeface="Arial"/>
              </a:rPr>
              <a:t>product.controller.js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2097159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1" y="4201405"/>
            <a:ext cx="3971925" cy="44672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object 2"/>
          <p:cNvSpPr txBox="1"/>
          <p:nvPr/>
        </p:nvSpPr>
        <p:spPr>
          <a:xfrm>
            <a:off x="901701" y="890674"/>
            <a:ext cx="5697855" cy="437042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Product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Controller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40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Product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Controller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handles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inventory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operations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contains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business </a:t>
            </a:r>
            <a:r>
              <a:rPr sz="1100" dirty="0">
                <a:latin typeface="Arial MT"/>
                <a:cs typeface="Arial MT"/>
              </a:rPr>
              <a:t>logic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linked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individual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users.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Responsibilities: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ts val="1290"/>
              </a:lnSpc>
              <a:spcBef>
                <a:spcPts val="1145"/>
              </a:spcBef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Add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inventory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Fetch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belonging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logged-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users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Update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details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like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quantity,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description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Delete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securely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90"/>
              </a:lnSpc>
              <a:buChar char="●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Perform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search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functionality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●"/>
            </a:pPr>
            <a:endParaRPr sz="1100">
              <a:latin typeface="Arial MT"/>
              <a:cs typeface="Arial MT"/>
            </a:endParaRPr>
          </a:p>
          <a:p>
            <a:pPr marL="241300">
              <a:lnSpc>
                <a:spcPct val="100000"/>
              </a:lnSpc>
            </a:pPr>
            <a:r>
              <a:rPr sz="1100" b="1" dirty="0">
                <a:latin typeface="Arial"/>
                <a:cs typeface="Arial"/>
              </a:rPr>
              <a:t>Main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Functionalities:</a:t>
            </a:r>
            <a:endParaRPr sz="1100">
              <a:latin typeface="Arial"/>
              <a:cs typeface="Arial"/>
            </a:endParaRPr>
          </a:p>
          <a:p>
            <a:pPr marL="469265" indent="-227965">
              <a:lnSpc>
                <a:spcPts val="1290"/>
              </a:lnSpc>
              <a:spcBef>
                <a:spcPts val="1145"/>
              </a:spcBef>
              <a:buFont typeface="Arial MT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Adds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reference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user.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Get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Products:</a:t>
            </a:r>
            <a:r>
              <a:rPr sz="1100" b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Retrieves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logged-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user.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Update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Modifies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details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while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verifying</a:t>
            </a:r>
            <a:r>
              <a:rPr sz="1100" spc="-6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ownership.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65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Delete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Removes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safely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database.</a:t>
            </a:r>
            <a:endParaRPr sz="1100">
              <a:latin typeface="Arial MT"/>
              <a:cs typeface="Arial MT"/>
            </a:endParaRPr>
          </a:p>
          <a:p>
            <a:pPr marL="469265" indent="-227965">
              <a:lnSpc>
                <a:spcPts val="1290"/>
              </a:lnSpc>
              <a:buFont typeface="Arial MT"/>
              <a:buChar char="●"/>
              <a:tabLst>
                <a:tab pos="469265" algn="l"/>
              </a:tabLst>
            </a:pPr>
            <a:r>
              <a:rPr sz="1100" b="1" dirty="0">
                <a:latin typeface="Arial"/>
                <a:cs typeface="Arial"/>
              </a:rPr>
              <a:t>Search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Product: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Allows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filtering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name.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7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Create </a:t>
            </a:r>
            <a:r>
              <a:rPr sz="1200" b="1" spc="-10" dirty="0">
                <a:latin typeface="Arial"/>
                <a:cs typeface="Arial"/>
              </a:rPr>
              <a:t>Middleware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100" dirty="0">
                <a:latin typeface="Arial MT"/>
                <a:cs typeface="Arial MT"/>
              </a:rPr>
              <a:t>Inside: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src/middlewares/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2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Create</a:t>
            </a:r>
            <a:r>
              <a:rPr sz="1100" spc="-10" dirty="0">
                <a:latin typeface="Arial MT"/>
                <a:cs typeface="Arial MT"/>
              </a:rPr>
              <a:t>:auth.middleware.js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60" name="object 3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5208538"/>
            <a:ext cx="5943600" cy="36290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4" name="object 2"/>
          <p:cNvSpPr txBox="1"/>
          <p:nvPr/>
        </p:nvSpPr>
        <p:spPr>
          <a:xfrm>
            <a:off x="901701" y="890674"/>
            <a:ext cx="5902960" cy="3091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Arial"/>
                <a:cs typeface="Arial"/>
              </a:rPr>
              <a:t>Auth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Middleware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(protect)</a:t>
            </a:r>
            <a:endParaRPr sz="1400">
              <a:latin typeface="Arial"/>
              <a:cs typeface="Arial"/>
            </a:endParaRPr>
          </a:p>
          <a:p>
            <a:pPr marL="12700" marR="5080">
              <a:lnSpc>
                <a:spcPct val="116700"/>
              </a:lnSpc>
              <a:spcBef>
                <a:spcPts val="1170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Auth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Middleware</a:t>
            </a:r>
            <a:r>
              <a:rPr sz="1100" b="1" spc="-35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secures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protected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verifying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JSON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Web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Token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(JWT)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sent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request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header.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checks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valid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Authorization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header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starting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Courier New"/>
                <a:cs typeface="Courier New"/>
              </a:rPr>
              <a:t>"Bearer</a:t>
            </a:r>
            <a:r>
              <a:rPr sz="1100" spc="-50" dirty="0">
                <a:latin typeface="Courier New"/>
                <a:cs typeface="Courier New"/>
              </a:rPr>
              <a:t> "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validates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secret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key.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valid,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decoded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information</a:t>
            </a:r>
            <a:r>
              <a:rPr sz="1100" spc="5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attached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req.user</a:t>
            </a:r>
            <a:r>
              <a:rPr sz="1100" spc="-36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request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proceeds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next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controller.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missing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invalid,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middleware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returns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b="1" dirty="0">
                <a:latin typeface="Arial"/>
                <a:cs typeface="Arial"/>
              </a:rPr>
              <a:t>401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Unauthorized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dirty="0">
                <a:latin typeface="Arial MT"/>
                <a:cs typeface="Arial MT"/>
              </a:rPr>
              <a:t>response,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preventing</a:t>
            </a:r>
            <a:r>
              <a:rPr sz="1100" spc="-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private APIs.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Create </a:t>
            </a:r>
            <a:r>
              <a:rPr sz="1200" b="1" spc="-10" dirty="0">
                <a:latin typeface="Arial"/>
                <a:cs typeface="Arial"/>
              </a:rPr>
              <a:t>Routes</a:t>
            </a:r>
            <a:endParaRPr sz="1200">
              <a:latin typeface="Arial"/>
              <a:cs typeface="Arial"/>
            </a:endParaRPr>
          </a:p>
          <a:p>
            <a:pPr marL="12700" marR="4639310" indent="41910">
              <a:lnSpc>
                <a:spcPts val="2950"/>
              </a:lnSpc>
            </a:pPr>
            <a:r>
              <a:rPr sz="1200" dirty="0">
                <a:latin typeface="Arial MT"/>
                <a:cs typeface="Arial MT"/>
              </a:rPr>
              <a:t>Inside: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src/routes/ </a:t>
            </a:r>
            <a:r>
              <a:rPr sz="1200" b="1" spc="-10" dirty="0">
                <a:latin typeface="Arial"/>
                <a:cs typeface="Arial"/>
              </a:rPr>
              <a:t>Create</a:t>
            </a:r>
            <a:r>
              <a:rPr sz="1200" spc="-10" dirty="0">
                <a:latin typeface="Arial MT"/>
                <a:cs typeface="Arial MT"/>
              </a:rPr>
              <a:t>: </a:t>
            </a:r>
            <a:r>
              <a:rPr sz="1200" b="1" spc="-10" dirty="0">
                <a:latin typeface="Arial"/>
                <a:cs typeface="Arial"/>
              </a:rPr>
              <a:t>auth.routes.js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48615" name="object 3"/>
          <p:cNvSpPr txBox="1"/>
          <p:nvPr/>
        </p:nvSpPr>
        <p:spPr>
          <a:xfrm>
            <a:off x="901701" y="6564466"/>
            <a:ext cx="5968365" cy="702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Auth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Routes: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ts val="1260"/>
              </a:lnSpc>
              <a:spcBef>
                <a:spcPts val="140"/>
              </a:spcBef>
            </a:pPr>
            <a:r>
              <a:rPr sz="1100" dirty="0">
                <a:latin typeface="Arial MT"/>
                <a:cs typeface="Arial MT"/>
              </a:rPr>
              <a:t>Auth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authentication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providing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endpoints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registration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login.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These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connect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incoming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requests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Controller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JWT </a:t>
            </a:r>
            <a:r>
              <a:rPr sz="1100" dirty="0">
                <a:latin typeface="Arial MT"/>
                <a:cs typeface="Arial MT"/>
              </a:rPr>
              <a:t>tokens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access.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6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4115670"/>
            <a:ext cx="5276850" cy="22383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bject 2"/>
          <p:cNvSpPr txBox="1"/>
          <p:nvPr/>
        </p:nvSpPr>
        <p:spPr>
          <a:xfrm>
            <a:off x="901701" y="892267"/>
            <a:ext cx="126809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10" dirty="0">
                <a:latin typeface="Arial"/>
                <a:cs typeface="Arial"/>
              </a:rPr>
              <a:t>product.routes.js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48617" name="object 3"/>
          <p:cNvSpPr txBox="1"/>
          <p:nvPr/>
        </p:nvSpPr>
        <p:spPr>
          <a:xfrm>
            <a:off x="901701" y="3531977"/>
            <a:ext cx="5968365" cy="1604927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75"/>
              </a:spcBef>
            </a:pPr>
            <a:r>
              <a:rPr sz="1200" b="1" dirty="0">
                <a:latin typeface="Arial"/>
                <a:cs typeface="Arial"/>
              </a:rPr>
              <a:t>Product</a:t>
            </a:r>
            <a:r>
              <a:rPr sz="1200" b="1" spc="-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Routes:</a:t>
            </a:r>
            <a:endParaRPr sz="1200">
              <a:latin typeface="Arial"/>
              <a:cs typeface="Arial"/>
            </a:endParaRPr>
          </a:p>
          <a:p>
            <a:pPr marL="12700" marR="5080" algn="just">
              <a:lnSpc>
                <a:spcPts val="1260"/>
              </a:lnSpc>
              <a:spcBef>
                <a:spcPts val="440"/>
              </a:spcBef>
            </a:pP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manage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inventory-</a:t>
            </a:r>
            <a:r>
              <a:rPr sz="1100" dirty="0">
                <a:latin typeface="Arial MT"/>
                <a:cs typeface="Arial MT"/>
              </a:rPr>
              <a:t>related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creating,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retrieving,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updating,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deleting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products.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protected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authentication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middleware</a:t>
            </a:r>
            <a:r>
              <a:rPr sz="1100" spc="9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ensure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authorized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own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830"/>
              </a:spcBef>
            </a:pP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</a:pPr>
            <a:r>
              <a:rPr sz="1200" b="1" dirty="0">
                <a:latin typeface="Arial"/>
                <a:cs typeface="Arial"/>
              </a:rPr>
              <a:t>Connect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Routes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-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Server</a:t>
            </a:r>
            <a:endParaRPr sz="1200">
              <a:latin typeface="Arial"/>
              <a:cs typeface="Arial"/>
            </a:endParaRPr>
          </a:p>
          <a:p>
            <a:pPr marL="139065">
              <a:lnSpc>
                <a:spcPct val="100000"/>
              </a:lnSpc>
              <a:spcBef>
                <a:spcPts val="1270"/>
              </a:spcBef>
            </a:pPr>
            <a:r>
              <a:rPr sz="1200" b="1" dirty="0">
                <a:latin typeface="Arial"/>
                <a:cs typeface="Arial"/>
              </a:rPr>
              <a:t>Import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all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routes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into</a:t>
            </a:r>
            <a:r>
              <a:rPr sz="1200" b="1" spc="-25" dirty="0">
                <a:latin typeface="Arial"/>
                <a:cs typeface="Arial"/>
              </a:rPr>
              <a:t> </a:t>
            </a:r>
            <a:r>
              <a:rPr sz="1200" b="1" spc="-10" dirty="0">
                <a:latin typeface="Courier New"/>
                <a:cs typeface="Courier New"/>
              </a:rPr>
              <a:t>server.js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048618" name="object 4"/>
          <p:cNvSpPr txBox="1"/>
          <p:nvPr/>
        </p:nvSpPr>
        <p:spPr>
          <a:xfrm>
            <a:off x="901701" y="6375372"/>
            <a:ext cx="5967730" cy="170598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 algn="just">
              <a:lnSpc>
                <a:spcPct val="121000"/>
              </a:lnSpc>
              <a:spcBef>
                <a:spcPts val="75"/>
              </a:spcBef>
            </a:pPr>
            <a:r>
              <a:rPr sz="1100" dirty="0">
                <a:latin typeface="Arial MT"/>
                <a:cs typeface="Arial MT"/>
              </a:rPr>
              <a:t>These</a:t>
            </a:r>
            <a:r>
              <a:rPr sz="1100" spc="1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configurations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connect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authentication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Express 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2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versioned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endpoints.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Courier New"/>
                <a:cs typeface="Courier New"/>
              </a:rPr>
              <a:t>/api/v1/auth</a:t>
            </a:r>
            <a:r>
              <a:rPr sz="1100" spc="-155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path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handles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authentication </a:t>
            </a:r>
            <a:r>
              <a:rPr sz="1100" dirty="0">
                <a:latin typeface="Arial MT"/>
                <a:cs typeface="Arial MT"/>
              </a:rPr>
              <a:t>requests, while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/api/v1/products</a:t>
            </a:r>
            <a:r>
              <a:rPr sz="1100" spc="-150" dirty="0">
                <a:latin typeface="Courier New"/>
                <a:cs typeface="Courier New"/>
              </a:rPr>
              <a:t> </a:t>
            </a:r>
            <a:r>
              <a:rPr sz="1100" dirty="0">
                <a:latin typeface="Arial MT"/>
                <a:cs typeface="Arial MT"/>
              </a:rPr>
              <a:t>manages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product-</a:t>
            </a:r>
            <a:r>
              <a:rPr sz="1100" dirty="0">
                <a:latin typeface="Arial MT"/>
                <a:cs typeface="Arial MT"/>
              </a:rPr>
              <a:t>related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operations,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helping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maintain</a:t>
            </a:r>
            <a:r>
              <a:rPr sz="1100" spc="40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dirty="0">
                <a:latin typeface="Arial MT"/>
                <a:cs typeface="Arial MT"/>
              </a:rPr>
              <a:t>structured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scalable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API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architecture.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</a:pP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1400" b="1" dirty="0">
                <a:latin typeface="Arial"/>
                <a:cs typeface="Arial"/>
              </a:rPr>
              <a:t>Database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Configuration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and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20" dirty="0">
                <a:latin typeface="Arial"/>
                <a:cs typeface="Arial"/>
              </a:rPr>
              <a:t>Setup</a:t>
            </a:r>
            <a:endParaRPr sz="14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140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Create</a:t>
            </a:r>
            <a:r>
              <a:rPr sz="1200" spc="-3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MongoDB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Atlas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cluster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48619" name="object 5"/>
          <p:cNvSpPr txBox="1"/>
          <p:nvPr/>
        </p:nvSpPr>
        <p:spPr>
          <a:xfrm>
            <a:off x="1130300" y="8036849"/>
            <a:ext cx="18859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har char="●"/>
              <a:tabLst>
                <a:tab pos="240665" algn="l"/>
              </a:tabLst>
            </a:pPr>
            <a:r>
              <a:rPr sz="1200" dirty="0">
                <a:latin typeface="Arial MT"/>
                <a:cs typeface="Arial MT"/>
              </a:rPr>
              <a:t>Add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connection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string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spc="-25" dirty="0">
                <a:latin typeface="Arial MT"/>
                <a:cs typeface="Arial MT"/>
              </a:rPr>
              <a:t>to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48620" name="object 6"/>
          <p:cNvSpPr txBox="1"/>
          <p:nvPr/>
        </p:nvSpPr>
        <p:spPr>
          <a:xfrm>
            <a:off x="3045766" y="8058980"/>
            <a:ext cx="347345" cy="179536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65"/>
              </a:lnSpc>
            </a:pPr>
            <a:r>
              <a:rPr sz="1200" spc="-20" dirty="0">
                <a:solidFill>
                  <a:srgbClr val="9A869A"/>
                </a:solidFill>
                <a:latin typeface="Consolas"/>
                <a:cs typeface="Consolas"/>
              </a:rPr>
              <a:t>.env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48621" name="object 7"/>
          <p:cNvSpPr txBox="1"/>
          <p:nvPr/>
        </p:nvSpPr>
        <p:spPr>
          <a:xfrm>
            <a:off x="901701" y="8218666"/>
            <a:ext cx="4083685" cy="8380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95"/>
              </a:spcBef>
              <a:buChar char="●"/>
              <a:tabLst>
                <a:tab pos="469265" algn="l"/>
              </a:tabLst>
            </a:pPr>
            <a:r>
              <a:rPr sz="1200" dirty="0">
                <a:latin typeface="Arial MT"/>
                <a:cs typeface="Arial MT"/>
              </a:rPr>
              <a:t>Connect</a:t>
            </a:r>
            <a:r>
              <a:rPr sz="1200" spc="-2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DB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before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API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testing.</a:t>
            </a:r>
            <a:endParaRPr sz="1200">
              <a:latin typeface="Arial MT"/>
              <a:cs typeface="Arial MT"/>
            </a:endParaRPr>
          </a:p>
          <a:p>
            <a:pPr marL="12700">
              <a:lnSpc>
                <a:spcPts val="1290"/>
              </a:lnSpc>
              <a:spcBef>
                <a:spcPts val="1145"/>
              </a:spcBef>
            </a:pPr>
            <a:r>
              <a:rPr sz="1100" b="1" spc="-10" dirty="0">
                <a:latin typeface="Arial"/>
                <a:cs typeface="Arial"/>
              </a:rPr>
              <a:t>Database</a:t>
            </a:r>
            <a:r>
              <a:rPr sz="1100" b="1" spc="-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Connection:</a:t>
            </a:r>
            <a:endParaRPr sz="1100">
              <a:latin typeface="Arial"/>
              <a:cs typeface="Arial"/>
            </a:endParaRPr>
          </a:p>
          <a:p>
            <a:pPr marL="469900">
              <a:lnSpc>
                <a:spcPts val="1265"/>
              </a:lnSpc>
            </a:pP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file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inside: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src/db/</a:t>
            </a:r>
            <a:r>
              <a:rPr sz="1100" u="heavy" spc="-10" dirty="0">
                <a:solidFill>
                  <a:srgbClr val="1154CC"/>
                </a:solidFill>
                <a:uFill>
                  <a:solidFill>
                    <a:srgbClr val="1154CC"/>
                  </a:solidFill>
                </a:uFill>
                <a:latin typeface="Arial MT"/>
                <a:cs typeface="Arial MT"/>
                <a:hlinkClick r:id="rId2"/>
              </a:rPr>
              <a:t>db.js</a:t>
            </a:r>
            <a:endParaRPr sz="1100">
              <a:latin typeface="Arial MT"/>
              <a:cs typeface="Arial MT"/>
            </a:endParaRPr>
          </a:p>
          <a:p>
            <a:pPr marL="469900">
              <a:lnSpc>
                <a:spcPts val="1290"/>
              </a:lnSpc>
            </a:pPr>
            <a:r>
              <a:rPr sz="1100" dirty="0">
                <a:latin typeface="Arial MT"/>
                <a:cs typeface="Arial MT"/>
              </a:rPr>
              <a:t>Purpose:</a:t>
            </a:r>
            <a:r>
              <a:rPr sz="1100" spc="-6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Connect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backend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MongoDB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using</a:t>
            </a:r>
            <a:r>
              <a:rPr sz="1100" spc="-5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mongoose.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62" name="object 8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3450" y="1308671"/>
            <a:ext cx="4543424" cy="1885949"/>
          </a:xfrm>
          <a:prstGeom prst="rect">
            <a:avLst/>
          </a:prstGeom>
        </p:spPr>
      </p:pic>
      <p:pic>
        <p:nvPicPr>
          <p:cNvPr id="2097163" name="object 9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33450" y="5438999"/>
            <a:ext cx="558165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object 2"/>
          <p:cNvSpPr txBox="1"/>
          <p:nvPr/>
        </p:nvSpPr>
        <p:spPr>
          <a:xfrm>
            <a:off x="901700" y="3350238"/>
            <a:ext cx="5969000" cy="1686359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 marR="5080" algn="just">
              <a:lnSpc>
                <a:spcPts val="1260"/>
              </a:lnSpc>
              <a:spcBef>
                <a:spcPts val="190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connectDB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function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establishes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connection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between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application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MongoDB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using </a:t>
            </a:r>
            <a:r>
              <a:rPr sz="1100" dirty="0">
                <a:latin typeface="Arial MT"/>
                <a:cs typeface="Arial MT"/>
              </a:rPr>
              <a:t>Mongoose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environment-</a:t>
            </a:r>
            <a:r>
              <a:rPr sz="1100" dirty="0">
                <a:latin typeface="Arial MT"/>
                <a:cs typeface="Arial MT"/>
              </a:rPr>
              <a:t>based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configuration.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ensures</a:t>
            </a:r>
            <a:r>
              <a:rPr sz="1100" spc="3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server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starts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after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spc="-50" dirty="0">
                <a:latin typeface="Arial MT"/>
                <a:cs typeface="Arial MT"/>
              </a:rPr>
              <a:t>a </a:t>
            </a:r>
            <a:r>
              <a:rPr sz="1100" dirty="0">
                <a:latin typeface="Arial MT"/>
                <a:cs typeface="Arial MT"/>
              </a:rPr>
              <a:t>successful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connection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error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message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if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connection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fails.</a:t>
            </a:r>
            <a:endParaRPr sz="1100">
              <a:latin typeface="Arial MT"/>
              <a:cs typeface="Arial MT"/>
            </a:endParaRPr>
          </a:p>
          <a:p>
            <a:pPr marL="12700" algn="just">
              <a:lnSpc>
                <a:spcPct val="100000"/>
              </a:lnSpc>
              <a:spcBef>
                <a:spcPts val="1190"/>
              </a:spcBef>
            </a:pP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Models:</a:t>
            </a:r>
            <a:endParaRPr sz="1100">
              <a:latin typeface="Arial"/>
              <a:cs typeface="Arial"/>
            </a:endParaRPr>
          </a:p>
          <a:p>
            <a:pPr marL="51435">
              <a:lnSpc>
                <a:spcPct val="100000"/>
              </a:lnSpc>
              <a:spcBef>
                <a:spcPts val="65"/>
              </a:spcBef>
            </a:pPr>
            <a:r>
              <a:rPr sz="1100" dirty="0">
                <a:latin typeface="Arial MT"/>
                <a:cs typeface="Arial MT"/>
              </a:rPr>
              <a:t>Inside</a:t>
            </a:r>
            <a:r>
              <a:rPr sz="1100" spc="15" dirty="0">
                <a:latin typeface="Arial MT"/>
                <a:cs typeface="Arial MT"/>
              </a:rPr>
              <a:t> </a:t>
            </a:r>
            <a:r>
              <a:rPr sz="1100" spc="-20" dirty="0">
                <a:latin typeface="Courier New"/>
                <a:cs typeface="Courier New"/>
              </a:rPr>
              <a:t>src/models/</a:t>
            </a:r>
            <a:r>
              <a:rPr sz="1100" spc="-335" dirty="0">
                <a:latin typeface="Courier New"/>
                <a:cs typeface="Courier New"/>
              </a:rPr>
              <a:t> </a:t>
            </a:r>
            <a:r>
              <a:rPr sz="1100" spc="-10" dirty="0">
                <a:latin typeface="Arial MT"/>
                <a:cs typeface="Arial MT"/>
              </a:rPr>
              <a:t>create:</a:t>
            </a:r>
            <a:endParaRPr sz="1100">
              <a:latin typeface="Arial MT"/>
              <a:cs typeface="Arial MT"/>
            </a:endParaRPr>
          </a:p>
          <a:p>
            <a:pPr marL="547370" indent="-306070">
              <a:lnSpc>
                <a:spcPts val="1290"/>
              </a:lnSpc>
              <a:spcBef>
                <a:spcPts val="10"/>
              </a:spcBef>
              <a:buChar char="●"/>
              <a:tabLst>
                <a:tab pos="547370" algn="l"/>
              </a:tabLst>
            </a:pPr>
            <a:r>
              <a:rPr sz="1100" spc="-10" dirty="0">
                <a:latin typeface="Arial MT"/>
                <a:cs typeface="Arial MT"/>
              </a:rPr>
              <a:t>User.js</a:t>
            </a:r>
            <a:endParaRPr sz="1100">
              <a:latin typeface="Arial MT"/>
              <a:cs typeface="Arial MT"/>
            </a:endParaRPr>
          </a:p>
          <a:p>
            <a:pPr marL="547370" indent="-306070">
              <a:lnSpc>
                <a:spcPts val="1290"/>
              </a:lnSpc>
              <a:buChar char="●"/>
              <a:tabLst>
                <a:tab pos="547370" algn="l"/>
              </a:tabLst>
            </a:pPr>
            <a:r>
              <a:rPr sz="1100" spc="-10" dirty="0">
                <a:latin typeface="Arial MT"/>
                <a:cs typeface="Arial MT"/>
              </a:rPr>
              <a:t>Product.js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Model: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23" name="object 3"/>
          <p:cNvSpPr txBox="1"/>
          <p:nvPr/>
        </p:nvSpPr>
        <p:spPr>
          <a:xfrm>
            <a:off x="901701" y="8403935"/>
            <a:ext cx="5968365" cy="6924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29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User</a:t>
            </a:r>
            <a:r>
              <a:rPr sz="1100" b="1" spc="-4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Schema: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ts val="1260"/>
              </a:lnSpc>
              <a:spcBef>
                <a:spcPts val="6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schema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defines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structure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storing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25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details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name,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email,</a:t>
            </a:r>
            <a:r>
              <a:rPr sz="1100" spc="18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and </a:t>
            </a:r>
            <a:r>
              <a:rPr sz="1100" dirty="0">
                <a:latin typeface="Arial MT"/>
                <a:cs typeface="Arial MT"/>
              </a:rPr>
              <a:t>hashed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password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database.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supports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authentication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maintains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timestamps </a:t>
            </a:r>
            <a:r>
              <a:rPr sz="1100" dirty="0">
                <a:latin typeface="Arial MT"/>
                <a:cs typeface="Arial MT"/>
              </a:rPr>
              <a:t>for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record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tracking.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64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933450"/>
            <a:ext cx="5943600" cy="2247900"/>
          </a:xfrm>
          <a:prstGeom prst="rect">
            <a:avLst/>
          </a:prstGeom>
        </p:spPr>
      </p:pic>
      <p:pic>
        <p:nvPicPr>
          <p:cNvPr id="2097165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3450" y="5020666"/>
            <a:ext cx="3448050" cy="324802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object 2"/>
          <p:cNvSpPr txBox="1"/>
          <p:nvPr/>
        </p:nvSpPr>
        <p:spPr>
          <a:xfrm>
            <a:off x="901700" y="893036"/>
            <a:ext cx="104140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Product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Model: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25" name="object 3"/>
          <p:cNvSpPr txBox="1"/>
          <p:nvPr/>
        </p:nvSpPr>
        <p:spPr>
          <a:xfrm>
            <a:off x="901701" y="4968199"/>
            <a:ext cx="5969635" cy="21236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9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Product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Schema: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ts val="1260"/>
              </a:lnSpc>
              <a:spcBef>
                <a:spcPts val="6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schema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represents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inventory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items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9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includes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fields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like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quantity, </a:t>
            </a:r>
            <a:r>
              <a:rPr sz="1100" dirty="0">
                <a:latin typeface="Arial MT"/>
                <a:cs typeface="Arial MT"/>
              </a:rPr>
              <a:t>description,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userId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reference.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each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linked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its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owner,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enabling </a:t>
            </a:r>
            <a:r>
              <a:rPr sz="1100" dirty="0">
                <a:latin typeface="Arial MT"/>
                <a:cs typeface="Arial MT"/>
              </a:rPr>
              <a:t>private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data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management.</a:t>
            </a:r>
            <a:endParaRPr sz="1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>
                <a:latin typeface="Arial"/>
                <a:cs typeface="Arial"/>
              </a:rPr>
              <a:t>Project</a:t>
            </a:r>
            <a:r>
              <a:rPr sz="1300" b="1" spc="-65" dirty="0">
                <a:latin typeface="Arial"/>
                <a:cs typeface="Arial"/>
              </a:rPr>
              <a:t> </a:t>
            </a:r>
            <a:r>
              <a:rPr sz="1300" b="1" spc="-10" dirty="0">
                <a:latin typeface="Arial"/>
                <a:cs typeface="Arial"/>
              </a:rPr>
              <a:t>Execution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13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100" b="1" spc="-10" dirty="0">
                <a:latin typeface="Arial"/>
                <a:cs typeface="Arial"/>
              </a:rPr>
              <a:t>Execution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Steps</a:t>
            </a:r>
            <a:endParaRPr sz="1100">
              <a:latin typeface="Arial"/>
              <a:cs typeface="Arial"/>
            </a:endParaRPr>
          </a:p>
          <a:p>
            <a:pPr marL="469900" indent="-228600">
              <a:lnSpc>
                <a:spcPts val="1415"/>
              </a:lnSpc>
              <a:spcBef>
                <a:spcPts val="1135"/>
              </a:spcBef>
              <a:buAutoNum type="arabicPeriod"/>
              <a:tabLst>
                <a:tab pos="469900" algn="l"/>
              </a:tabLst>
            </a:pPr>
            <a:r>
              <a:rPr sz="1200" dirty="0">
                <a:latin typeface="Arial MT"/>
                <a:cs typeface="Arial MT"/>
              </a:rPr>
              <a:t>Open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terminal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in</a:t>
            </a:r>
            <a:r>
              <a:rPr sz="1200" spc="-1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server</a:t>
            </a:r>
            <a:r>
              <a:rPr sz="1200" spc="-20" dirty="0">
                <a:latin typeface="Arial MT"/>
                <a:cs typeface="Arial MT"/>
              </a:rPr>
              <a:t> </a:t>
            </a:r>
            <a:r>
              <a:rPr sz="1200" spc="-10" dirty="0">
                <a:latin typeface="Arial MT"/>
                <a:cs typeface="Arial MT"/>
              </a:rPr>
              <a:t>folder.</a:t>
            </a:r>
            <a:endParaRPr sz="1200">
              <a:latin typeface="Arial MT"/>
              <a:cs typeface="Arial MT"/>
            </a:endParaRPr>
          </a:p>
          <a:p>
            <a:pPr marL="469265" indent="-227965">
              <a:lnSpc>
                <a:spcPts val="1260"/>
              </a:lnSpc>
              <a:buSzPct val="81818"/>
              <a:buAutoNum type="arabicPeriod"/>
              <a:tabLst>
                <a:tab pos="469265" algn="l"/>
              </a:tabLst>
            </a:pPr>
            <a:r>
              <a:rPr sz="1100" dirty="0">
                <a:latin typeface="Arial MT"/>
                <a:cs typeface="Arial MT"/>
              </a:rPr>
              <a:t>Make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sure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you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have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start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script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package.js</a:t>
            </a:r>
            <a:r>
              <a:rPr sz="1100" spc="-2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file.</a:t>
            </a:r>
            <a:endParaRPr sz="1100">
              <a:latin typeface="Arial MT"/>
              <a:cs typeface="Arial MT"/>
            </a:endParaRPr>
          </a:p>
          <a:p>
            <a:pPr marL="469900" indent="-228600">
              <a:lnSpc>
                <a:spcPts val="1410"/>
              </a:lnSpc>
              <a:buAutoNum type="arabicPeriod"/>
              <a:tabLst>
                <a:tab pos="469900" algn="l"/>
              </a:tabLst>
            </a:pPr>
            <a:r>
              <a:rPr sz="1200" spc="-20" dirty="0">
                <a:latin typeface="Arial MT"/>
                <a:cs typeface="Arial MT"/>
              </a:rPr>
              <a:t>Run: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48626" name="object 4"/>
          <p:cNvSpPr txBox="1"/>
          <p:nvPr/>
        </p:nvSpPr>
        <p:spPr>
          <a:xfrm>
            <a:off x="914400" y="7046777"/>
            <a:ext cx="5943600" cy="238527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53340" rIns="0" bIns="0" rtlCol="0">
            <a:spAutoFit/>
          </a:bodyPr>
          <a:lstStyle/>
          <a:p>
            <a:pPr marL="66675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AB865C"/>
                </a:solidFill>
                <a:latin typeface="Consolas"/>
                <a:cs typeface="Consolas"/>
              </a:rPr>
              <a:t>npm</a:t>
            </a:r>
            <a:r>
              <a:rPr sz="1200" spc="-25" dirty="0">
                <a:solidFill>
                  <a:srgbClr val="AB865C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nsolas"/>
                <a:cs typeface="Consolas"/>
              </a:rPr>
              <a:t>start</a:t>
            </a:r>
            <a:endParaRPr sz="1200">
              <a:latin typeface="Consolas"/>
              <a:cs typeface="Consolas"/>
            </a:endParaRPr>
          </a:p>
        </p:txBody>
      </p:sp>
      <p:sp>
        <p:nvSpPr>
          <p:cNvPr id="1048627" name="object 5"/>
          <p:cNvSpPr txBox="1"/>
          <p:nvPr/>
        </p:nvSpPr>
        <p:spPr>
          <a:xfrm>
            <a:off x="1130300" y="7702829"/>
            <a:ext cx="18605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 MT"/>
                <a:cs typeface="Arial MT"/>
              </a:rPr>
              <a:t>3.</a:t>
            </a:r>
            <a:r>
              <a:rPr sz="1200" spc="450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Console</a:t>
            </a:r>
            <a:r>
              <a:rPr sz="1200" spc="-5" dirty="0">
                <a:latin typeface="Arial MT"/>
                <a:cs typeface="Arial MT"/>
              </a:rPr>
              <a:t> </a:t>
            </a:r>
            <a:r>
              <a:rPr sz="1200" dirty="0">
                <a:latin typeface="Arial MT"/>
                <a:cs typeface="Arial MT"/>
              </a:rPr>
              <a:t>should</a:t>
            </a:r>
            <a:r>
              <a:rPr sz="1200" spc="-10" dirty="0">
                <a:latin typeface="Arial MT"/>
                <a:cs typeface="Arial MT"/>
              </a:rPr>
              <a:t> display: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048628" name="object 6"/>
          <p:cNvSpPr txBox="1"/>
          <p:nvPr/>
        </p:nvSpPr>
        <p:spPr>
          <a:xfrm>
            <a:off x="914400" y="8052272"/>
            <a:ext cx="5943600" cy="445122"/>
          </a:xfrm>
          <a:prstGeom prst="rect">
            <a:avLst/>
          </a:prstGeom>
          <a:solidFill>
            <a:srgbClr val="212121"/>
          </a:solidFill>
        </p:spPr>
        <p:txBody>
          <a:bodyPr vert="horz" wrap="square" lIns="0" tIns="31115" rIns="0" bIns="0" rtlCol="0">
            <a:spAutoFit/>
          </a:bodyPr>
          <a:lstStyle/>
          <a:p>
            <a:pPr marL="66675" marR="4029075">
              <a:lnSpc>
                <a:spcPct val="112000"/>
              </a:lnSpc>
              <a:spcBef>
                <a:spcPts val="245"/>
              </a:spcBef>
            </a:pPr>
            <a:r>
              <a:rPr sz="1200" dirty="0">
                <a:solidFill>
                  <a:srgbClr val="FFFFFF"/>
                </a:solidFill>
                <a:latin typeface="Consolas"/>
                <a:cs typeface="Consolas"/>
              </a:rPr>
              <a:t>Server</a:t>
            </a:r>
            <a:r>
              <a:rPr sz="12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FFFFFF"/>
                </a:solidFill>
                <a:latin typeface="Consolas"/>
                <a:cs typeface="Consolas"/>
              </a:rPr>
              <a:t>running</a:t>
            </a:r>
            <a:r>
              <a:rPr sz="1200" spc="-4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200" dirty="0">
                <a:solidFill>
                  <a:srgbClr val="FFFFFF"/>
                </a:solidFill>
                <a:latin typeface="Consolas"/>
                <a:cs typeface="Consolas"/>
              </a:rPr>
              <a:t>on</a:t>
            </a:r>
            <a:r>
              <a:rPr sz="1200" spc="-35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200" spc="-20" dirty="0">
                <a:solidFill>
                  <a:srgbClr val="AB865C"/>
                </a:solidFill>
                <a:latin typeface="Consolas"/>
                <a:cs typeface="Consolas"/>
              </a:rPr>
              <a:t>PORT </a:t>
            </a:r>
            <a:r>
              <a:rPr sz="1200" dirty="0">
                <a:solidFill>
                  <a:srgbClr val="FFFFFF"/>
                </a:solidFill>
                <a:latin typeface="Consolas"/>
                <a:cs typeface="Consolas"/>
              </a:rPr>
              <a:t>Database</a:t>
            </a:r>
            <a:r>
              <a:rPr sz="1200" spc="-60" dirty="0">
                <a:solidFill>
                  <a:srgbClr val="FFFFFF"/>
                </a:solidFill>
                <a:latin typeface="Consolas"/>
                <a:cs typeface="Consolas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onsolas"/>
                <a:cs typeface="Consolas"/>
              </a:rPr>
              <a:t>Connected</a:t>
            </a:r>
            <a:endParaRPr sz="1200">
              <a:latin typeface="Consolas"/>
              <a:cs typeface="Consolas"/>
            </a:endParaRPr>
          </a:p>
        </p:txBody>
      </p:sp>
      <p:pic>
        <p:nvPicPr>
          <p:cNvPr id="2097166" name="object 7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1254731"/>
            <a:ext cx="2705100" cy="370522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9" name="object 2"/>
          <p:cNvSpPr txBox="1"/>
          <p:nvPr/>
        </p:nvSpPr>
        <p:spPr>
          <a:xfrm>
            <a:off x="901700" y="892250"/>
            <a:ext cx="2019935" cy="11409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latin typeface="Arial"/>
                <a:cs typeface="Arial"/>
              </a:rPr>
              <a:t>API</a:t>
            </a:r>
            <a:r>
              <a:rPr sz="1200" b="1" spc="-35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Testing</a:t>
            </a:r>
            <a:r>
              <a:rPr sz="1200" b="1" spc="-30" dirty="0">
                <a:latin typeface="Arial"/>
                <a:cs typeface="Arial"/>
              </a:rPr>
              <a:t> </a:t>
            </a:r>
            <a:r>
              <a:rPr sz="1200" b="1" spc="-50" dirty="0"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45"/>
              </a:spcBef>
            </a:pPr>
            <a:r>
              <a:rPr sz="1100" dirty="0">
                <a:latin typeface="Arial MT"/>
                <a:cs typeface="Arial MT"/>
              </a:rPr>
              <a:t>Use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Thunder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Client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test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APIs:</a:t>
            </a:r>
            <a:endParaRPr sz="1100">
              <a:latin typeface="Arial MT"/>
              <a:cs typeface="Arial MT"/>
            </a:endParaRPr>
          </a:p>
          <a:p>
            <a:pPr marL="12700" marR="1044575">
              <a:lnSpc>
                <a:spcPct val="186700"/>
              </a:lnSpc>
            </a:pPr>
            <a:r>
              <a:rPr sz="1100" b="1" spc="-20" dirty="0">
                <a:latin typeface="Arial"/>
                <a:cs typeface="Arial"/>
              </a:rPr>
              <a:t>Test</a:t>
            </a:r>
            <a:r>
              <a:rPr sz="1100" b="1" spc="-4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APIs: </a:t>
            </a:r>
            <a:r>
              <a:rPr sz="1100" b="1" dirty="0">
                <a:latin typeface="Arial"/>
                <a:cs typeface="Arial"/>
              </a:rPr>
              <a:t>Register</a:t>
            </a:r>
            <a:r>
              <a:rPr sz="1100" b="1" spc="-7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User: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30" name="object 3"/>
          <p:cNvSpPr txBox="1"/>
          <p:nvPr/>
        </p:nvSpPr>
        <p:spPr>
          <a:xfrm>
            <a:off x="901701" y="5618417"/>
            <a:ext cx="5968365" cy="866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Register:</a:t>
            </a:r>
            <a:endParaRPr sz="1100">
              <a:latin typeface="Arial"/>
              <a:cs typeface="Arial"/>
            </a:endParaRPr>
          </a:p>
          <a:p>
            <a:pPr marL="12700" marR="5080" algn="just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register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functionality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allows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create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account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17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submitting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details, </a:t>
            </a:r>
            <a:r>
              <a:rPr sz="1100" dirty="0">
                <a:latin typeface="Arial MT"/>
                <a:cs typeface="Arial MT"/>
              </a:rPr>
              <a:t>which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are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validated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securely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stored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hashed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password.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ensures</a:t>
            </a:r>
            <a:r>
              <a:rPr sz="1100" spc="25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unique</a:t>
            </a:r>
            <a:r>
              <a:rPr sz="1100" spc="245" dirty="0">
                <a:latin typeface="Arial MT"/>
                <a:cs typeface="Arial MT"/>
              </a:rPr>
              <a:t> </a:t>
            </a:r>
            <a:r>
              <a:rPr sz="1100" spc="-20" dirty="0">
                <a:latin typeface="Arial MT"/>
                <a:cs typeface="Arial MT"/>
              </a:rPr>
              <a:t>user </a:t>
            </a:r>
            <a:r>
              <a:rPr sz="1100" dirty="0">
                <a:latin typeface="Arial MT"/>
                <a:cs typeface="Arial MT"/>
              </a:rPr>
              <a:t>creation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before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granting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system.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67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1" y="2200225"/>
            <a:ext cx="5581649" cy="3257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object 2"/>
          <p:cNvSpPr txBox="1"/>
          <p:nvPr/>
        </p:nvSpPr>
        <p:spPr>
          <a:xfrm>
            <a:off x="901701" y="893036"/>
            <a:ext cx="75501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Login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20" dirty="0">
                <a:latin typeface="Arial"/>
                <a:cs typeface="Arial"/>
              </a:rPr>
              <a:t>User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32" name="object 3"/>
          <p:cNvSpPr txBox="1"/>
          <p:nvPr/>
        </p:nvSpPr>
        <p:spPr>
          <a:xfrm>
            <a:off x="901701" y="4407503"/>
            <a:ext cx="5960745" cy="9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latin typeface="Arial"/>
                <a:cs typeface="Arial"/>
              </a:rPr>
              <a:t>Login: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The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login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functionality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verifies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credentials</a:t>
            </a:r>
            <a:r>
              <a:rPr sz="1100" spc="16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and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generates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JWT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upon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successful authentication.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token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access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protected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routes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securely.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2097168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1" y="1246486"/>
            <a:ext cx="4381499" cy="3000374"/>
          </a:xfrm>
          <a:prstGeom prst="rect">
            <a:avLst/>
          </a:prstGeom>
        </p:spPr>
      </p:pic>
      <p:pic>
        <p:nvPicPr>
          <p:cNvPr id="2097169" name="object 5"/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33451" y="5547680"/>
            <a:ext cx="522922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object 2"/>
          <p:cNvSpPr txBox="1"/>
          <p:nvPr/>
        </p:nvSpPr>
        <p:spPr>
          <a:xfrm>
            <a:off x="901700" y="893038"/>
            <a:ext cx="5961380" cy="9797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Create</a:t>
            </a:r>
            <a:r>
              <a:rPr sz="1100" b="1" spc="-5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Allows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authenticated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add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new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18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17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inventory</a:t>
            </a:r>
            <a:r>
              <a:rPr sz="1100" spc="114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by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submitting</a:t>
            </a:r>
            <a:r>
              <a:rPr sz="1100" spc="11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product </a:t>
            </a:r>
            <a:r>
              <a:rPr sz="1100" dirty="0">
                <a:latin typeface="Arial MT"/>
                <a:cs typeface="Arial MT"/>
              </a:rPr>
              <a:t>details.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saved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with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user’s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ID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2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maintain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ownership.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100" b="1" dirty="0">
                <a:latin typeface="Arial"/>
                <a:cs typeface="Arial"/>
              </a:rPr>
              <a:t>Get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34" name="object 3"/>
          <p:cNvSpPr txBox="1"/>
          <p:nvPr/>
        </p:nvSpPr>
        <p:spPr>
          <a:xfrm>
            <a:off x="901701" y="5213269"/>
            <a:ext cx="5965825" cy="666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Get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all</a:t>
            </a:r>
            <a:r>
              <a:rPr sz="1100" b="1" spc="-1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Products: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Fetches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all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products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that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belong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logged-</a:t>
            </a:r>
            <a:r>
              <a:rPr sz="1100" dirty="0">
                <a:latin typeface="Arial MT"/>
                <a:cs typeface="Arial MT"/>
              </a:rPr>
              <a:t>in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It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view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own </a:t>
            </a:r>
            <a:r>
              <a:rPr sz="1100" dirty="0">
                <a:latin typeface="Arial MT"/>
                <a:cs typeface="Arial MT"/>
              </a:rPr>
              <a:t>inventory</a:t>
            </a:r>
            <a:r>
              <a:rPr sz="1100" spc="-7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data.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70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2033216"/>
            <a:ext cx="5943600" cy="30194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5" name="object 2"/>
          <p:cNvSpPr txBox="1"/>
          <p:nvPr/>
        </p:nvSpPr>
        <p:spPr>
          <a:xfrm>
            <a:off x="901701" y="893036"/>
            <a:ext cx="106489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Update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36" name="object 3"/>
          <p:cNvSpPr txBox="1"/>
          <p:nvPr/>
        </p:nvSpPr>
        <p:spPr>
          <a:xfrm>
            <a:off x="901700" y="6025474"/>
            <a:ext cx="5961380" cy="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Update</a:t>
            </a:r>
            <a:r>
              <a:rPr sz="1100" b="1" spc="-65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Enables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modify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existing</a:t>
            </a:r>
            <a:r>
              <a:rPr sz="1100" spc="10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details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such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name,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price,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or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quantity.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system </a:t>
            </a:r>
            <a:r>
              <a:rPr sz="1100" dirty="0">
                <a:latin typeface="Arial MT"/>
                <a:cs typeface="Arial MT"/>
              </a:rPr>
              <a:t>verifies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ownership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before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allowing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any</a:t>
            </a:r>
            <a:r>
              <a:rPr sz="1100" spc="-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updates.</a:t>
            </a:r>
            <a:endParaRPr sz="1100">
              <a:latin typeface="Arial MT"/>
              <a:cs typeface="Arial MT"/>
            </a:endParaRPr>
          </a:p>
        </p:txBody>
      </p:sp>
      <p:pic>
        <p:nvPicPr>
          <p:cNvPr id="2097171" name="object 4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33450" y="1246485"/>
            <a:ext cx="5943600" cy="43052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object 2"/>
          <p:cNvSpPr txBox="1"/>
          <p:nvPr/>
        </p:nvSpPr>
        <p:spPr>
          <a:xfrm>
            <a:off x="901701" y="893036"/>
            <a:ext cx="1010919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Delete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48638" name="object 3"/>
          <p:cNvSpPr txBox="1"/>
          <p:nvPr/>
        </p:nvSpPr>
        <p:spPr>
          <a:xfrm>
            <a:off x="901701" y="4236051"/>
            <a:ext cx="5962015" cy="6694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Delete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Product:</a:t>
            </a:r>
            <a:endParaRPr sz="1100">
              <a:latin typeface="Arial"/>
              <a:cs typeface="Arial"/>
            </a:endParaRPr>
          </a:p>
          <a:p>
            <a:pPr marL="12700" marR="5080">
              <a:lnSpc>
                <a:spcPts val="1260"/>
              </a:lnSpc>
              <a:spcBef>
                <a:spcPts val="1235"/>
              </a:spcBef>
            </a:pPr>
            <a:r>
              <a:rPr sz="1100" dirty="0">
                <a:latin typeface="Arial MT"/>
                <a:cs typeface="Arial MT"/>
              </a:rPr>
              <a:t>Allows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users</a:t>
            </a:r>
            <a:r>
              <a:rPr sz="1100" spc="10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permanently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remove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a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from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their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inventory.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3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operation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is</a:t>
            </a:r>
            <a:r>
              <a:rPr sz="1100" spc="35" dirty="0">
                <a:latin typeface="Arial MT"/>
                <a:cs typeface="Arial MT"/>
              </a:rPr>
              <a:t> </a:t>
            </a:r>
            <a:r>
              <a:rPr sz="1100" spc="-10" dirty="0">
                <a:latin typeface="Arial MT"/>
                <a:cs typeface="Arial MT"/>
              </a:rPr>
              <a:t>protected </a:t>
            </a:r>
            <a:r>
              <a:rPr sz="1100" dirty="0">
                <a:latin typeface="Arial MT"/>
                <a:cs typeface="Arial MT"/>
              </a:rPr>
              <a:t>to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ensure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only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the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product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owner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can</a:t>
            </a:r>
            <a:r>
              <a:rPr sz="1100" spc="-40" dirty="0">
                <a:latin typeface="Arial MT"/>
                <a:cs typeface="Arial MT"/>
              </a:rPr>
              <a:t> </a:t>
            </a:r>
            <a:r>
              <a:rPr sz="1100" dirty="0">
                <a:latin typeface="Arial MT"/>
                <a:cs typeface="Arial MT"/>
              </a:rPr>
              <a:t>delete</a:t>
            </a:r>
            <a:r>
              <a:rPr sz="1100" spc="-35" dirty="0">
                <a:latin typeface="Arial MT"/>
                <a:cs typeface="Arial MT"/>
              </a:rPr>
              <a:t> </a:t>
            </a:r>
            <a:r>
              <a:rPr sz="1100" spc="-25" dirty="0">
                <a:latin typeface="Arial MT"/>
                <a:cs typeface="Arial MT"/>
              </a:rPr>
              <a:t>it.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39" name="object 4"/>
          <p:cNvSpPr txBox="1"/>
          <p:nvPr/>
        </p:nvSpPr>
        <p:spPr>
          <a:xfrm>
            <a:off x="901700" y="5346294"/>
            <a:ext cx="1380490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b="1" dirty="0">
                <a:latin typeface="Arial"/>
                <a:cs typeface="Arial"/>
              </a:rPr>
              <a:t>Project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Demo</a:t>
            </a:r>
            <a:r>
              <a:rPr sz="1100" b="1" spc="-50" dirty="0">
                <a:latin typeface="Arial"/>
                <a:cs typeface="Arial"/>
              </a:rPr>
              <a:t> </a:t>
            </a:r>
            <a:r>
              <a:rPr sz="1100" b="1" spc="-10" dirty="0">
                <a:latin typeface="Arial"/>
                <a:cs typeface="Arial"/>
              </a:rPr>
              <a:t>Video</a:t>
            </a:r>
            <a:r>
              <a:rPr sz="1100" spc="-10" dirty="0">
                <a:latin typeface="Arial MT"/>
                <a:cs typeface="Arial MT"/>
              </a:rPr>
              <a:t>: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7" name="object 5"/>
          <p:cNvGrpSpPr/>
          <p:nvPr/>
        </p:nvGrpSpPr>
        <p:grpSpPr>
          <a:xfrm>
            <a:off x="2308224" y="5357188"/>
            <a:ext cx="1409700" cy="181610"/>
            <a:chOff x="2308224" y="5357188"/>
            <a:chExt cx="1409700" cy="181610"/>
          </a:xfrm>
        </p:grpSpPr>
        <p:sp>
          <p:nvSpPr>
            <p:cNvPr id="1048640" name="object 6">
              <a:hlinkClick r:id="rId2"/>
            </p:cNvPr>
            <p:cNvSpPr/>
            <p:nvPr/>
          </p:nvSpPr>
          <p:spPr>
            <a:xfrm>
              <a:off x="2308224" y="5357188"/>
              <a:ext cx="1409700" cy="181610"/>
            </a:xfrm>
            <a:custGeom>
              <a:avLst/>
              <a:gdLst/>
              <a:ahLst/>
              <a:cxnLst/>
              <a:rect l="l" t="t" r="r" b="b"/>
              <a:pathLst>
                <a:path w="1409700" h="181610">
                  <a:moveTo>
                    <a:pt x="1333399" y="181596"/>
                  </a:moveTo>
                  <a:lnTo>
                    <a:pt x="76200" y="181596"/>
                  </a:lnTo>
                  <a:lnTo>
                    <a:pt x="46539" y="175608"/>
                  </a:lnTo>
                  <a:lnTo>
                    <a:pt x="22318" y="159277"/>
                  </a:lnTo>
                  <a:lnTo>
                    <a:pt x="5988" y="135056"/>
                  </a:lnTo>
                  <a:lnTo>
                    <a:pt x="0" y="105396"/>
                  </a:lnTo>
                  <a:lnTo>
                    <a:pt x="0" y="76199"/>
                  </a:lnTo>
                  <a:lnTo>
                    <a:pt x="5988" y="46539"/>
                  </a:lnTo>
                  <a:lnTo>
                    <a:pt x="22318" y="22318"/>
                  </a:lnTo>
                  <a:lnTo>
                    <a:pt x="46539" y="5988"/>
                  </a:lnTo>
                  <a:lnTo>
                    <a:pt x="76200" y="0"/>
                  </a:lnTo>
                  <a:lnTo>
                    <a:pt x="1333399" y="0"/>
                  </a:lnTo>
                  <a:lnTo>
                    <a:pt x="1363059" y="5988"/>
                  </a:lnTo>
                  <a:lnTo>
                    <a:pt x="1387280" y="22318"/>
                  </a:lnTo>
                  <a:lnTo>
                    <a:pt x="1403610" y="46539"/>
                  </a:lnTo>
                  <a:lnTo>
                    <a:pt x="1409599" y="76199"/>
                  </a:lnTo>
                  <a:lnTo>
                    <a:pt x="1409599" y="105396"/>
                  </a:lnTo>
                  <a:lnTo>
                    <a:pt x="1403610" y="135056"/>
                  </a:lnTo>
                  <a:lnTo>
                    <a:pt x="1387280" y="159277"/>
                  </a:lnTo>
                  <a:lnTo>
                    <a:pt x="1363059" y="175608"/>
                  </a:lnTo>
                  <a:lnTo>
                    <a:pt x="1333399" y="181596"/>
                  </a:lnTo>
                  <a:close/>
                </a:path>
              </a:pathLst>
            </a:custGeom>
            <a:solidFill>
              <a:srgbClr val="E7E9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97172" name="object 7">
              <a:hlinkClick r:id="rId2"/>
            </p:cNvPr>
            <p:cNvPicPr>
              <a:picLocks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64581" y="5413061"/>
              <a:ext cx="87312" cy="69849"/>
            </a:xfrm>
            <a:prstGeom prst="rect">
              <a:avLst/>
            </a:prstGeom>
          </p:spPr>
        </p:pic>
      </p:grpSp>
      <p:sp>
        <p:nvSpPr>
          <p:cNvPr id="1048641" name="object 8"/>
          <p:cNvSpPr txBox="1"/>
          <p:nvPr/>
        </p:nvSpPr>
        <p:spPr>
          <a:xfrm>
            <a:off x="2486024" y="5346304"/>
            <a:ext cx="1196975" cy="1821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Arial MT"/>
                <a:cs typeface="Arial MT"/>
                <a:hlinkClick r:id="rId2"/>
              </a:rPr>
              <a:t>Nm</a:t>
            </a:r>
            <a:r>
              <a:rPr sz="1100" spc="-40" dirty="0">
                <a:latin typeface="Arial MT"/>
                <a:cs typeface="Arial MT"/>
                <a:hlinkClick r:id="rId2"/>
              </a:rPr>
              <a:t> </a:t>
            </a:r>
            <a:r>
              <a:rPr sz="1100" dirty="0">
                <a:latin typeface="Arial MT"/>
                <a:cs typeface="Arial MT"/>
                <a:hlinkClick r:id="rId2"/>
              </a:rPr>
              <a:t>project</a:t>
            </a:r>
            <a:r>
              <a:rPr sz="1100" spc="-35" dirty="0">
                <a:latin typeface="Arial MT"/>
                <a:cs typeface="Arial MT"/>
                <a:hlinkClick r:id="rId2"/>
              </a:rPr>
              <a:t> </a:t>
            </a:r>
            <a:r>
              <a:rPr sz="1100" spc="-10" dirty="0">
                <a:latin typeface="Arial MT"/>
                <a:cs typeface="Arial MT"/>
                <a:hlinkClick r:id="rId2"/>
              </a:rPr>
              <a:t>vd.mp4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1048642" name="object 9">
            <a:hlinkClick r:id="rId2"/>
          </p:cNvPr>
          <p:cNvSpPr/>
          <p:nvPr/>
        </p:nvSpPr>
        <p:spPr>
          <a:xfrm>
            <a:off x="2312988" y="5361952"/>
            <a:ext cx="1400175" cy="172085"/>
          </a:xfrm>
          <a:custGeom>
            <a:avLst/>
            <a:gdLst/>
            <a:ahLst/>
            <a:cxnLst/>
            <a:rect l="l" t="t" r="r" b="b"/>
            <a:pathLst>
              <a:path w="1400175" h="172085">
                <a:moveTo>
                  <a:pt x="78581" y="0"/>
                </a:moveTo>
                <a:lnTo>
                  <a:pt x="1321492" y="0"/>
                </a:lnTo>
                <a:lnTo>
                  <a:pt x="1352080" y="6175"/>
                </a:lnTo>
                <a:lnTo>
                  <a:pt x="1377058" y="23015"/>
                </a:lnTo>
                <a:lnTo>
                  <a:pt x="1393898" y="47993"/>
                </a:lnTo>
                <a:lnTo>
                  <a:pt x="1400074" y="78581"/>
                </a:lnTo>
                <a:lnTo>
                  <a:pt x="1400074" y="93490"/>
                </a:lnTo>
                <a:lnTo>
                  <a:pt x="1393898" y="124077"/>
                </a:lnTo>
                <a:lnTo>
                  <a:pt x="1377058" y="149055"/>
                </a:lnTo>
                <a:lnTo>
                  <a:pt x="1352080" y="165896"/>
                </a:lnTo>
                <a:lnTo>
                  <a:pt x="1321492" y="172071"/>
                </a:lnTo>
                <a:lnTo>
                  <a:pt x="78581" y="172071"/>
                </a:lnTo>
                <a:lnTo>
                  <a:pt x="47993" y="165896"/>
                </a:lnTo>
                <a:lnTo>
                  <a:pt x="23015" y="149055"/>
                </a:lnTo>
                <a:lnTo>
                  <a:pt x="6175" y="124077"/>
                </a:lnTo>
                <a:lnTo>
                  <a:pt x="0" y="93490"/>
                </a:lnTo>
                <a:lnTo>
                  <a:pt x="0" y="78581"/>
                </a:lnTo>
                <a:lnTo>
                  <a:pt x="6175" y="47993"/>
                </a:lnTo>
                <a:lnTo>
                  <a:pt x="23015" y="23015"/>
                </a:lnTo>
                <a:lnTo>
                  <a:pt x="47993" y="6175"/>
                </a:lnTo>
                <a:lnTo>
                  <a:pt x="78581" y="0"/>
                </a:lnTo>
                <a:close/>
              </a:path>
            </a:pathLst>
          </a:custGeom>
          <a:ln w="3175">
            <a:solidFill>
              <a:srgbClr val="E7E9E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97173" name="object 10"/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33450" y="1246486"/>
            <a:ext cx="5943600" cy="282892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1458</Words>
  <Application>Microsoft Office PowerPoint</Application>
  <PresentationFormat>Custom</PresentationFormat>
  <Paragraphs>267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Product Inventory Management System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NM Backend Project new doc</dc:title>
  <dc:creator>Mi A2</dc:creator>
  <cp:lastModifiedBy>lenovo</cp:lastModifiedBy>
  <cp:revision>3</cp:revision>
  <dcterms:created xsi:type="dcterms:W3CDTF">2026-02-28T03:08:26Z</dcterms:created>
  <dcterms:modified xsi:type="dcterms:W3CDTF">2026-03-03T15:57:35Z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2026-02-28T00:00:00Z</vt:filetime>
  </property>
  <property fmtid="{D5CDD505-2E9C-101B-9397-08002B2CF9AE}" pid="3" name="Producer">
    <vt:lpwstr>Skia/PDF m147 Google Docs Renderer</vt:lpwstr>
  </property>
  <property fmtid="{D5CDD505-2E9C-101B-9397-08002B2CF9AE}" pid="4" name="LastSaved">
    <vt:filetime>2026-02-28T00:00:00Z</vt:filetime>
  </property>
  <property fmtid="{D5CDD505-2E9C-101B-9397-08002B2CF9AE}" pid="5" name="ICV">
    <vt:lpwstr>34a95180e0a14648b88cab11de515c38</vt:lpwstr>
  </property>
</Properties>
</file>